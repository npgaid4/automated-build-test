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1" r:id="rId5"/>
    <p:sldId id="260" r:id="rId6"/>
    <p:sldId id="265" r:id="rId7"/>
    <p:sldId id="262" r:id="rId8"/>
    <p:sldId id="263" r:id="rId9"/>
    <p:sldId id="266" r:id="rId10"/>
    <p:sldId id="267" r:id="rId11"/>
    <p:sldId id="268" r:id="rId12"/>
    <p:sldId id="269" r:id="rId13"/>
    <p:sldId id="270" r:id="rId14"/>
    <p:sldId id="271" r:id="rId15"/>
    <p:sldId id="272" r:id="rId16"/>
    <p:sldId id="273" r:id="rId17"/>
    <p:sldId id="274" r:id="rId18"/>
    <p:sldId id="275" r:id="rId19"/>
    <p:sldId id="277" r:id="rId20"/>
    <p:sldId id="278" r:id="rId21"/>
    <p:sldId id="276" r:id="rId2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396" autoAdjust="0"/>
    <p:restoredTop sz="94660"/>
  </p:normalViewPr>
  <p:slideViewPr>
    <p:cSldViewPr snapToGrid="0">
      <p:cViewPr varScale="1">
        <p:scale>
          <a:sx n="118" d="100"/>
          <a:sy n="118" d="100"/>
        </p:scale>
        <p:origin x="91" y="28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C34B80F1-0C12-4C75-89A5-7D638746F675}" type="datetimeFigureOut">
              <a:rPr kumimoji="1" lang="ja-JP" altLang="en-US" smtClean="0"/>
              <a:t>2020/7/2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7E1FC2B4-6035-4A7D-BB13-53C2F2B5383D}" type="slidenum">
              <a:rPr kumimoji="1" lang="ja-JP" altLang="en-US" smtClean="0"/>
              <a:t>‹#›</a:t>
            </a:fld>
            <a:endParaRPr kumimoji="1" lang="ja-JP" altLang="en-US"/>
          </a:p>
        </p:txBody>
      </p:sp>
    </p:spTree>
    <p:extLst>
      <p:ext uri="{BB962C8B-B14F-4D97-AF65-F5344CB8AC3E}">
        <p14:creationId xmlns:p14="http://schemas.microsoft.com/office/powerpoint/2010/main" val="3730797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C34B80F1-0C12-4C75-89A5-7D638746F675}" type="datetimeFigureOut">
              <a:rPr kumimoji="1" lang="ja-JP" altLang="en-US" smtClean="0"/>
              <a:t>2020/7/2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7E1FC2B4-6035-4A7D-BB13-53C2F2B5383D}" type="slidenum">
              <a:rPr kumimoji="1" lang="ja-JP" altLang="en-US" smtClean="0"/>
              <a:t>‹#›</a:t>
            </a:fld>
            <a:endParaRPr kumimoji="1" lang="ja-JP" altLang="en-US"/>
          </a:p>
        </p:txBody>
      </p:sp>
    </p:spTree>
    <p:extLst>
      <p:ext uri="{BB962C8B-B14F-4D97-AF65-F5344CB8AC3E}">
        <p14:creationId xmlns:p14="http://schemas.microsoft.com/office/powerpoint/2010/main" val="4199562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C34B80F1-0C12-4C75-89A5-7D638746F675}" type="datetimeFigureOut">
              <a:rPr kumimoji="1" lang="ja-JP" altLang="en-US" smtClean="0"/>
              <a:t>2020/7/2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7E1FC2B4-6035-4A7D-BB13-53C2F2B5383D}" type="slidenum">
              <a:rPr kumimoji="1" lang="ja-JP" altLang="en-US" smtClean="0"/>
              <a:t>‹#›</a:t>
            </a:fld>
            <a:endParaRPr kumimoji="1" lang="ja-JP" altLang="en-US"/>
          </a:p>
        </p:txBody>
      </p:sp>
    </p:spTree>
    <p:extLst>
      <p:ext uri="{BB962C8B-B14F-4D97-AF65-F5344CB8AC3E}">
        <p14:creationId xmlns:p14="http://schemas.microsoft.com/office/powerpoint/2010/main" val="1860334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C34B80F1-0C12-4C75-89A5-7D638746F675}" type="datetimeFigureOut">
              <a:rPr kumimoji="1" lang="ja-JP" altLang="en-US" smtClean="0"/>
              <a:t>2020/7/2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7E1FC2B4-6035-4A7D-BB13-53C2F2B5383D}" type="slidenum">
              <a:rPr kumimoji="1" lang="ja-JP" altLang="en-US" smtClean="0"/>
              <a:t>‹#›</a:t>
            </a:fld>
            <a:endParaRPr kumimoji="1" lang="ja-JP" altLang="en-US"/>
          </a:p>
        </p:txBody>
      </p:sp>
    </p:spTree>
    <p:extLst>
      <p:ext uri="{BB962C8B-B14F-4D97-AF65-F5344CB8AC3E}">
        <p14:creationId xmlns:p14="http://schemas.microsoft.com/office/powerpoint/2010/main" val="126178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C34B80F1-0C12-4C75-89A5-7D638746F675}" type="datetimeFigureOut">
              <a:rPr kumimoji="1" lang="ja-JP" altLang="en-US" smtClean="0"/>
              <a:t>2020/7/2</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7E1FC2B4-6035-4A7D-BB13-53C2F2B5383D}" type="slidenum">
              <a:rPr kumimoji="1" lang="ja-JP" altLang="en-US" smtClean="0"/>
              <a:t>‹#›</a:t>
            </a:fld>
            <a:endParaRPr kumimoji="1" lang="ja-JP" altLang="en-US"/>
          </a:p>
        </p:txBody>
      </p:sp>
    </p:spTree>
    <p:extLst>
      <p:ext uri="{BB962C8B-B14F-4D97-AF65-F5344CB8AC3E}">
        <p14:creationId xmlns:p14="http://schemas.microsoft.com/office/powerpoint/2010/main" val="33041243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C34B80F1-0C12-4C75-89A5-7D638746F675}" type="datetimeFigureOut">
              <a:rPr kumimoji="1" lang="ja-JP" altLang="en-US" smtClean="0"/>
              <a:t>2020/7/2</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7E1FC2B4-6035-4A7D-BB13-53C2F2B5383D}" type="slidenum">
              <a:rPr kumimoji="1" lang="ja-JP" altLang="en-US" smtClean="0"/>
              <a:t>‹#›</a:t>
            </a:fld>
            <a:endParaRPr kumimoji="1" lang="ja-JP" altLang="en-US"/>
          </a:p>
        </p:txBody>
      </p:sp>
    </p:spTree>
    <p:extLst>
      <p:ext uri="{BB962C8B-B14F-4D97-AF65-F5344CB8AC3E}">
        <p14:creationId xmlns:p14="http://schemas.microsoft.com/office/powerpoint/2010/main" val="2784182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C34B80F1-0C12-4C75-89A5-7D638746F675}" type="datetimeFigureOut">
              <a:rPr kumimoji="1" lang="ja-JP" altLang="en-US" smtClean="0"/>
              <a:t>2020/7/2</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7E1FC2B4-6035-4A7D-BB13-53C2F2B5383D}" type="slidenum">
              <a:rPr kumimoji="1" lang="ja-JP" altLang="en-US" smtClean="0"/>
              <a:t>‹#›</a:t>
            </a:fld>
            <a:endParaRPr kumimoji="1" lang="ja-JP" altLang="en-US"/>
          </a:p>
        </p:txBody>
      </p:sp>
    </p:spTree>
    <p:extLst>
      <p:ext uri="{BB962C8B-B14F-4D97-AF65-F5344CB8AC3E}">
        <p14:creationId xmlns:p14="http://schemas.microsoft.com/office/powerpoint/2010/main" val="3577700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C34B80F1-0C12-4C75-89A5-7D638746F675}" type="datetimeFigureOut">
              <a:rPr kumimoji="1" lang="ja-JP" altLang="en-US" smtClean="0"/>
              <a:t>2020/7/2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7E1FC2B4-6035-4A7D-BB13-53C2F2B5383D}" type="slidenum">
              <a:rPr kumimoji="1" lang="ja-JP" altLang="en-US" smtClean="0"/>
              <a:t>‹#›</a:t>
            </a:fld>
            <a:endParaRPr kumimoji="1" lang="ja-JP" altLang="en-US"/>
          </a:p>
        </p:txBody>
      </p:sp>
    </p:spTree>
    <p:extLst>
      <p:ext uri="{BB962C8B-B14F-4D97-AF65-F5344CB8AC3E}">
        <p14:creationId xmlns:p14="http://schemas.microsoft.com/office/powerpoint/2010/main" val="2060300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C34B80F1-0C12-4C75-89A5-7D638746F675}" type="datetimeFigureOut">
              <a:rPr kumimoji="1" lang="ja-JP" altLang="en-US" smtClean="0"/>
              <a:t>2020/7/2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7E1FC2B4-6035-4A7D-BB13-53C2F2B5383D}" type="slidenum">
              <a:rPr kumimoji="1" lang="ja-JP" altLang="en-US" smtClean="0"/>
              <a:t>‹#›</a:t>
            </a:fld>
            <a:endParaRPr kumimoji="1" lang="ja-JP" altLang="en-US"/>
          </a:p>
        </p:txBody>
      </p:sp>
    </p:spTree>
    <p:extLst>
      <p:ext uri="{BB962C8B-B14F-4D97-AF65-F5344CB8AC3E}">
        <p14:creationId xmlns:p14="http://schemas.microsoft.com/office/powerpoint/2010/main" val="480181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C34B80F1-0C12-4C75-89A5-7D638746F675}" type="datetimeFigureOut">
              <a:rPr kumimoji="1" lang="ja-JP" altLang="en-US" smtClean="0"/>
              <a:t>2020/7/2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7E1FC2B4-6035-4A7D-BB13-53C2F2B5383D}" type="slidenum">
              <a:rPr kumimoji="1" lang="ja-JP" altLang="en-US" smtClean="0"/>
              <a:t>‹#›</a:t>
            </a:fld>
            <a:endParaRPr kumimoji="1" lang="ja-JP" altLang="en-US"/>
          </a:p>
        </p:txBody>
      </p:sp>
    </p:spTree>
    <p:extLst>
      <p:ext uri="{BB962C8B-B14F-4D97-AF65-F5344CB8AC3E}">
        <p14:creationId xmlns:p14="http://schemas.microsoft.com/office/powerpoint/2010/main" val="2915544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C34B80F1-0C12-4C75-89A5-7D638746F675}" type="datetimeFigureOut">
              <a:rPr kumimoji="1" lang="ja-JP" altLang="en-US" smtClean="0"/>
              <a:t>2020/7/2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7E1FC2B4-6035-4A7D-BB13-53C2F2B5383D}" type="slidenum">
              <a:rPr kumimoji="1" lang="ja-JP" altLang="en-US" smtClean="0"/>
              <a:t>‹#›</a:t>
            </a:fld>
            <a:endParaRPr kumimoji="1" lang="ja-JP" altLang="en-US"/>
          </a:p>
        </p:txBody>
      </p:sp>
    </p:spTree>
    <p:extLst>
      <p:ext uri="{BB962C8B-B14F-4D97-AF65-F5344CB8AC3E}">
        <p14:creationId xmlns:p14="http://schemas.microsoft.com/office/powerpoint/2010/main" val="1217214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4B80F1-0C12-4C75-89A5-7D638746F675}" type="datetimeFigureOut">
              <a:rPr kumimoji="1" lang="ja-JP" altLang="en-US" smtClean="0"/>
              <a:t>2020/7/2</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1FC2B4-6035-4A7D-BB13-53C2F2B5383D}" type="slidenum">
              <a:rPr kumimoji="1" lang="ja-JP" altLang="en-US" smtClean="0"/>
              <a:t>‹#›</a:t>
            </a:fld>
            <a:endParaRPr kumimoji="1" lang="ja-JP" altLang="en-US"/>
          </a:p>
        </p:txBody>
      </p:sp>
    </p:spTree>
    <p:extLst>
      <p:ext uri="{BB962C8B-B14F-4D97-AF65-F5344CB8AC3E}">
        <p14:creationId xmlns:p14="http://schemas.microsoft.com/office/powerpoint/2010/main" val="19356772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developer.android.com/about/dashboard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en-US" altLang="ja-JP" dirty="0" smtClean="0"/>
              <a:t>Android</a:t>
            </a:r>
            <a:r>
              <a:rPr kumimoji="1" lang="ja-JP" altLang="en-US" dirty="0" smtClean="0"/>
              <a:t> 勉強会</a:t>
            </a:r>
            <a:endParaRPr kumimoji="1" lang="ja-JP" altLang="en-US" dirty="0"/>
          </a:p>
        </p:txBody>
      </p:sp>
      <p:sp>
        <p:nvSpPr>
          <p:cNvPr id="3" name="サブタイトル 2"/>
          <p:cNvSpPr>
            <a:spLocks noGrp="1"/>
          </p:cNvSpPr>
          <p:nvPr>
            <p:ph type="subTitle" idx="1"/>
          </p:nvPr>
        </p:nvSpPr>
        <p:spPr/>
        <p:txBody>
          <a:bodyPr/>
          <a:lstStyle/>
          <a:p>
            <a:r>
              <a:rPr kumimoji="1" lang="ja-JP" altLang="en-US" dirty="0" smtClean="0"/>
              <a:t>第２回</a:t>
            </a:r>
            <a:endParaRPr kumimoji="1" lang="en-US" altLang="ja-JP" dirty="0" smtClean="0"/>
          </a:p>
          <a:p>
            <a:r>
              <a:rPr lang="en-US" altLang="ja-JP" dirty="0" smtClean="0"/>
              <a:t>2020/07/01</a:t>
            </a:r>
            <a:endParaRPr kumimoji="1" lang="ja-JP" altLang="en-US" dirty="0"/>
          </a:p>
        </p:txBody>
      </p:sp>
    </p:spTree>
    <p:extLst>
      <p:ext uri="{BB962C8B-B14F-4D97-AF65-F5344CB8AC3E}">
        <p14:creationId xmlns:p14="http://schemas.microsoft.com/office/powerpoint/2010/main" val="12163228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Android</a:t>
            </a:r>
            <a:r>
              <a:rPr kumimoji="1" lang="ja-JP" altLang="en-US" dirty="0" smtClean="0"/>
              <a:t>のバージョン</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smtClean="0"/>
              <a:t>バージョン分断問題</a:t>
            </a:r>
            <a:r>
              <a:rPr kumimoji="1" lang="en-US" altLang="ja-JP" dirty="0" smtClean="0"/>
              <a:t/>
            </a:r>
            <a:br>
              <a:rPr kumimoji="1" lang="en-US" altLang="ja-JP" dirty="0" smtClean="0"/>
            </a:br>
            <a:r>
              <a:rPr kumimoji="1" lang="ja-JP" altLang="en-US" dirty="0" smtClean="0"/>
              <a:t>どのバージョンをサポートするかいつも課題になる。</a:t>
            </a:r>
            <a:endParaRPr kumimoji="1" lang="en-US" altLang="ja-JP" dirty="0" smtClean="0"/>
          </a:p>
          <a:p>
            <a:r>
              <a:rPr kumimoji="1" lang="en-US" altLang="ja-JP" dirty="0" smtClean="0"/>
              <a:t>Android</a:t>
            </a:r>
            <a:r>
              <a:rPr kumimoji="1" lang="ja-JP" altLang="en-US" dirty="0" smtClean="0"/>
              <a:t>は</a:t>
            </a:r>
            <a:r>
              <a:rPr kumimoji="1" lang="en-US" altLang="ja-JP" dirty="0" smtClean="0"/>
              <a:t>iPhone</a:t>
            </a:r>
            <a:r>
              <a:rPr kumimoji="1" lang="ja-JP" altLang="en-US" dirty="0" smtClean="0"/>
              <a:t>と違って市場に古いバージョンが残っている。</a:t>
            </a:r>
            <a:endParaRPr kumimoji="1" lang="en-US" altLang="ja-JP" dirty="0" smtClean="0"/>
          </a:p>
          <a:p>
            <a:r>
              <a:rPr lang="ja-JP" altLang="en-US" dirty="0" smtClean="0"/>
              <a:t>下記ページとかで市場のバージョンシェアを確認してサポートバージョンの下限を提案する</a:t>
            </a:r>
            <a:endParaRPr lang="en-US" altLang="ja-JP" dirty="0" smtClean="0"/>
          </a:p>
          <a:p>
            <a:r>
              <a:rPr lang="ja-JP" altLang="en-US" dirty="0" smtClean="0"/>
              <a:t>バージョン別シェアの確認方法</a:t>
            </a:r>
            <a:endParaRPr lang="en-US" altLang="ja-JP" dirty="0" smtClean="0"/>
          </a:p>
          <a:p>
            <a:r>
              <a:rPr lang="en-US" altLang="ja-JP" dirty="0">
                <a:hlinkClick r:id="rId2"/>
              </a:rPr>
              <a:t>https://</a:t>
            </a:r>
            <a:r>
              <a:rPr lang="en-US" altLang="ja-JP" dirty="0" smtClean="0">
                <a:hlinkClick r:id="rId2"/>
              </a:rPr>
              <a:t>developer.android.com/about/dashboards</a:t>
            </a:r>
            <a:r>
              <a:rPr lang="ja-JP" altLang="en-US" dirty="0" smtClean="0"/>
              <a:t> 古い</a:t>
            </a:r>
            <a:endParaRPr lang="en-US" altLang="ja-JP" dirty="0" smtClean="0"/>
          </a:p>
          <a:p>
            <a:endParaRPr kumimoji="1" lang="en-US" altLang="ja-JP" dirty="0" smtClean="0"/>
          </a:p>
          <a:p>
            <a:r>
              <a:rPr kumimoji="1" lang="ja-JP" altLang="en-US" dirty="0" smtClean="0"/>
              <a:t>今後はこっち</a:t>
            </a:r>
            <a:r>
              <a:rPr kumimoji="1" lang="en-US" altLang="ja-JP" dirty="0" smtClean="0"/>
              <a:t>(</a:t>
            </a:r>
            <a:r>
              <a:rPr kumimoji="1" lang="ja-JP" altLang="en-US" dirty="0" smtClean="0"/>
              <a:t>次のページ）</a:t>
            </a:r>
            <a:endParaRPr kumimoji="1" lang="en-US" altLang="ja-JP" dirty="0" smtClean="0"/>
          </a:p>
          <a:p>
            <a:endParaRPr kumimoji="1" lang="en-US" altLang="ja-JP" dirty="0" smtClean="0"/>
          </a:p>
          <a:p>
            <a:endParaRPr kumimoji="1" lang="ja-JP" altLang="en-US" dirty="0"/>
          </a:p>
        </p:txBody>
      </p:sp>
    </p:spTree>
    <p:extLst>
      <p:ext uri="{BB962C8B-B14F-4D97-AF65-F5344CB8AC3E}">
        <p14:creationId xmlns:p14="http://schemas.microsoft.com/office/powerpoint/2010/main" val="26041145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a:blip r:embed="rId2"/>
          <a:stretch>
            <a:fillRect/>
          </a:stretch>
        </p:blipFill>
        <p:spPr>
          <a:xfrm>
            <a:off x="288782" y="456042"/>
            <a:ext cx="5748364" cy="4322689"/>
          </a:xfrm>
          <a:prstGeom prst="rect">
            <a:avLst/>
          </a:prstGeom>
        </p:spPr>
      </p:pic>
      <p:sp>
        <p:nvSpPr>
          <p:cNvPr id="3" name="右矢印 2"/>
          <p:cNvSpPr/>
          <p:nvPr/>
        </p:nvSpPr>
        <p:spPr>
          <a:xfrm rot="10800000">
            <a:off x="3442915" y="3411106"/>
            <a:ext cx="628153" cy="31114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 name="図 3"/>
          <p:cNvPicPr>
            <a:picLocks noChangeAspect="1"/>
          </p:cNvPicPr>
          <p:nvPr/>
        </p:nvPicPr>
        <p:blipFill>
          <a:blip r:embed="rId3"/>
          <a:stretch>
            <a:fillRect/>
          </a:stretch>
        </p:blipFill>
        <p:spPr>
          <a:xfrm>
            <a:off x="7027683" y="1091460"/>
            <a:ext cx="4327189" cy="5571734"/>
          </a:xfrm>
          <a:prstGeom prst="rect">
            <a:avLst/>
          </a:prstGeom>
        </p:spPr>
      </p:pic>
      <p:sp>
        <p:nvSpPr>
          <p:cNvPr id="5" name="テキスト ボックス 4"/>
          <p:cNvSpPr txBox="1"/>
          <p:nvPr/>
        </p:nvSpPr>
        <p:spPr>
          <a:xfrm>
            <a:off x="4005100" y="3395207"/>
            <a:ext cx="646331" cy="369332"/>
          </a:xfrm>
          <a:prstGeom prst="rect">
            <a:avLst/>
          </a:prstGeom>
          <a:noFill/>
        </p:spPr>
        <p:txBody>
          <a:bodyPr wrap="none" rtlCol="0">
            <a:spAutoFit/>
          </a:bodyPr>
          <a:lstStyle/>
          <a:p>
            <a:r>
              <a:rPr kumimoji="1" lang="ja-JP" altLang="en-US" dirty="0" smtClean="0"/>
              <a:t>ここ</a:t>
            </a:r>
            <a:endParaRPr kumimoji="1" lang="ja-JP" altLang="en-US" dirty="0"/>
          </a:p>
        </p:txBody>
      </p:sp>
      <p:sp>
        <p:nvSpPr>
          <p:cNvPr id="6" name="テキスト ボックス 5"/>
          <p:cNvSpPr txBox="1"/>
          <p:nvPr/>
        </p:nvSpPr>
        <p:spPr>
          <a:xfrm>
            <a:off x="6814422" y="564542"/>
            <a:ext cx="2820003" cy="369332"/>
          </a:xfrm>
          <a:prstGeom prst="rect">
            <a:avLst/>
          </a:prstGeom>
          <a:noFill/>
        </p:spPr>
        <p:txBody>
          <a:bodyPr wrap="none" rtlCol="0">
            <a:spAutoFit/>
          </a:bodyPr>
          <a:lstStyle/>
          <a:p>
            <a:r>
              <a:rPr kumimoji="1" lang="en-US" altLang="ja-JP" dirty="0" smtClean="0"/>
              <a:t>2020/06/24</a:t>
            </a:r>
            <a:r>
              <a:rPr kumimoji="1" lang="ja-JP" altLang="en-US" dirty="0" smtClean="0"/>
              <a:t>現在のシェア</a:t>
            </a:r>
            <a:endParaRPr kumimoji="1" lang="ja-JP" altLang="en-US" dirty="0"/>
          </a:p>
        </p:txBody>
      </p:sp>
    </p:spTree>
    <p:extLst>
      <p:ext uri="{BB962C8B-B14F-4D97-AF65-F5344CB8AC3E}">
        <p14:creationId xmlns:p14="http://schemas.microsoft.com/office/powerpoint/2010/main" val="4069123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a:blip r:embed="rId2"/>
          <a:stretch>
            <a:fillRect/>
          </a:stretch>
        </p:blipFill>
        <p:spPr>
          <a:xfrm>
            <a:off x="392929" y="93750"/>
            <a:ext cx="4632297" cy="6668838"/>
          </a:xfrm>
          <a:prstGeom prst="rect">
            <a:avLst/>
          </a:prstGeom>
        </p:spPr>
      </p:pic>
      <p:sp>
        <p:nvSpPr>
          <p:cNvPr id="3" name="テキスト ボックス 2"/>
          <p:cNvSpPr txBox="1"/>
          <p:nvPr/>
        </p:nvSpPr>
        <p:spPr>
          <a:xfrm>
            <a:off x="5168347" y="4707172"/>
            <a:ext cx="6319359" cy="923330"/>
          </a:xfrm>
          <a:prstGeom prst="rect">
            <a:avLst/>
          </a:prstGeom>
          <a:noFill/>
        </p:spPr>
        <p:txBody>
          <a:bodyPr wrap="none" rtlCol="0">
            <a:spAutoFit/>
          </a:bodyPr>
          <a:lstStyle/>
          <a:p>
            <a:r>
              <a:rPr kumimoji="1" lang="en-US" altLang="ja-JP" dirty="0" smtClean="0"/>
              <a:t>Linux</a:t>
            </a:r>
            <a:r>
              <a:rPr kumimoji="1" lang="ja-JP" altLang="en-US" dirty="0" smtClean="0"/>
              <a:t> </a:t>
            </a:r>
            <a:r>
              <a:rPr kumimoji="1" lang="en-US" altLang="ja-JP" dirty="0" smtClean="0"/>
              <a:t>Kernel</a:t>
            </a:r>
            <a:br>
              <a:rPr kumimoji="1" lang="en-US" altLang="ja-JP" dirty="0" smtClean="0"/>
            </a:br>
            <a:r>
              <a:rPr lang="en-US" altLang="ja-JP" dirty="0"/>
              <a:t>Android </a:t>
            </a:r>
            <a:r>
              <a:rPr lang="en-US" altLang="ja-JP" dirty="0" smtClean="0"/>
              <a:t>8</a:t>
            </a:r>
            <a:r>
              <a:rPr lang="ja-JP" altLang="en-US" dirty="0" smtClean="0"/>
              <a:t>以降は</a:t>
            </a:r>
            <a:r>
              <a:rPr lang="en-US" altLang="ja-JP" dirty="0" smtClean="0"/>
              <a:t>Linux </a:t>
            </a:r>
            <a:r>
              <a:rPr lang="en-US" altLang="ja-JP" dirty="0"/>
              <a:t>4.4</a:t>
            </a:r>
            <a:r>
              <a:rPr lang="ja-JP" altLang="en-US" dirty="0"/>
              <a:t>以降、それ</a:t>
            </a:r>
            <a:r>
              <a:rPr lang="ja-JP" altLang="en-US" dirty="0" smtClean="0"/>
              <a:t>以外を</a:t>
            </a:r>
            <a:r>
              <a:rPr lang="ja-JP" altLang="en-US" dirty="0"/>
              <a:t>使用する場合</a:t>
            </a:r>
            <a:r>
              <a:rPr lang="ja-JP" altLang="en-US" dirty="0" smtClean="0"/>
              <a:t>は</a:t>
            </a:r>
            <a:endParaRPr lang="en-US" altLang="ja-JP" dirty="0" smtClean="0"/>
          </a:p>
          <a:p>
            <a:r>
              <a:rPr lang="en-US" altLang="ja-JP" dirty="0" smtClean="0"/>
              <a:t>Linux 3.18</a:t>
            </a:r>
            <a:r>
              <a:rPr lang="ja-JP" altLang="en-US" dirty="0" smtClean="0"/>
              <a:t>以降を使用する</a:t>
            </a:r>
            <a:endParaRPr kumimoji="1" lang="ja-JP" altLang="en-US" dirty="0"/>
          </a:p>
        </p:txBody>
      </p:sp>
      <p:sp>
        <p:nvSpPr>
          <p:cNvPr id="4" name="テキスト ボックス 3"/>
          <p:cNvSpPr txBox="1"/>
          <p:nvPr/>
        </p:nvSpPr>
        <p:spPr>
          <a:xfrm>
            <a:off x="5168347" y="3713259"/>
            <a:ext cx="4083169" cy="646331"/>
          </a:xfrm>
          <a:prstGeom prst="rect">
            <a:avLst/>
          </a:prstGeom>
          <a:noFill/>
        </p:spPr>
        <p:txBody>
          <a:bodyPr wrap="none" rtlCol="0">
            <a:spAutoFit/>
          </a:bodyPr>
          <a:lstStyle/>
          <a:p>
            <a:r>
              <a:rPr lang="en-US" altLang="ja-JP" dirty="0"/>
              <a:t>Hardware Abstraction Layer</a:t>
            </a:r>
            <a:r>
              <a:rPr lang="ja-JP" altLang="en-US" dirty="0"/>
              <a:t>（</a:t>
            </a:r>
            <a:r>
              <a:rPr lang="en-US" altLang="ja-JP" dirty="0"/>
              <a:t>HAL</a:t>
            </a:r>
            <a:r>
              <a:rPr lang="ja-JP" altLang="en-US" dirty="0"/>
              <a:t>）</a:t>
            </a:r>
          </a:p>
          <a:p>
            <a:r>
              <a:rPr kumimoji="1" lang="en-US" altLang="ja-JP" dirty="0" smtClean="0"/>
              <a:t>HW</a:t>
            </a:r>
            <a:r>
              <a:rPr kumimoji="1" lang="ja-JP" altLang="en-US" dirty="0" smtClean="0"/>
              <a:t>の抽象化</a:t>
            </a:r>
            <a:endParaRPr kumimoji="1" lang="ja-JP" altLang="en-US" dirty="0"/>
          </a:p>
        </p:txBody>
      </p:sp>
      <p:sp>
        <p:nvSpPr>
          <p:cNvPr id="5" name="テキスト ボックス 4"/>
          <p:cNvSpPr txBox="1"/>
          <p:nvPr/>
        </p:nvSpPr>
        <p:spPr>
          <a:xfrm>
            <a:off x="5168347" y="2569972"/>
            <a:ext cx="3185487" cy="646331"/>
          </a:xfrm>
          <a:prstGeom prst="rect">
            <a:avLst/>
          </a:prstGeom>
          <a:noFill/>
        </p:spPr>
        <p:txBody>
          <a:bodyPr wrap="none" rtlCol="0">
            <a:spAutoFit/>
          </a:bodyPr>
          <a:lstStyle/>
          <a:p>
            <a:r>
              <a:rPr lang="en-US" altLang="ja-JP" dirty="0" smtClean="0"/>
              <a:t>Android</a:t>
            </a:r>
            <a:r>
              <a:rPr lang="ja-JP" altLang="en-US" dirty="0" smtClean="0"/>
              <a:t> </a:t>
            </a:r>
            <a:r>
              <a:rPr lang="en-US" altLang="ja-JP" dirty="0" smtClean="0"/>
              <a:t>Runtime/C,C++</a:t>
            </a:r>
            <a:r>
              <a:rPr lang="ja-JP" altLang="en-US" dirty="0" smtClean="0"/>
              <a:t> </a:t>
            </a:r>
            <a:r>
              <a:rPr lang="en-US" altLang="ja-JP" dirty="0" smtClean="0"/>
              <a:t>Lib</a:t>
            </a:r>
          </a:p>
          <a:p>
            <a:r>
              <a:rPr kumimoji="1" lang="en-US" altLang="ja-JP" dirty="0" smtClean="0"/>
              <a:t>ART</a:t>
            </a:r>
            <a:endParaRPr kumimoji="1" lang="ja-JP" altLang="en-US" dirty="0"/>
          </a:p>
        </p:txBody>
      </p:sp>
      <p:sp>
        <p:nvSpPr>
          <p:cNvPr id="6" name="テキスト ボックス 5"/>
          <p:cNvSpPr txBox="1"/>
          <p:nvPr/>
        </p:nvSpPr>
        <p:spPr>
          <a:xfrm>
            <a:off x="5168347" y="1426685"/>
            <a:ext cx="4147289" cy="646331"/>
          </a:xfrm>
          <a:prstGeom prst="rect">
            <a:avLst/>
          </a:prstGeom>
          <a:noFill/>
        </p:spPr>
        <p:txBody>
          <a:bodyPr wrap="none" rtlCol="0">
            <a:spAutoFit/>
          </a:bodyPr>
          <a:lstStyle/>
          <a:p>
            <a:r>
              <a:rPr lang="en-US" altLang="ja-JP" dirty="0" smtClean="0"/>
              <a:t>Java</a:t>
            </a:r>
            <a:r>
              <a:rPr lang="ja-JP" altLang="en-US" dirty="0" smtClean="0"/>
              <a:t> </a:t>
            </a:r>
            <a:r>
              <a:rPr lang="en-US" altLang="ja-JP" dirty="0" smtClean="0"/>
              <a:t>API</a:t>
            </a:r>
          </a:p>
          <a:p>
            <a:r>
              <a:rPr kumimoji="1" lang="ja-JP" altLang="en-US" dirty="0" smtClean="0"/>
              <a:t>この</a:t>
            </a:r>
            <a:r>
              <a:rPr kumimoji="1" lang="en-US" altLang="ja-JP" dirty="0" smtClean="0"/>
              <a:t>API</a:t>
            </a:r>
            <a:r>
              <a:rPr kumimoji="1" lang="ja-JP" altLang="en-US" dirty="0" smtClean="0"/>
              <a:t>を使って</a:t>
            </a:r>
            <a:r>
              <a:rPr kumimoji="1" lang="en-US" altLang="ja-JP" dirty="0" smtClean="0"/>
              <a:t>Android</a:t>
            </a:r>
            <a:r>
              <a:rPr kumimoji="1" lang="ja-JP" altLang="en-US" dirty="0" smtClean="0"/>
              <a:t>アプリを作る</a:t>
            </a:r>
            <a:endParaRPr kumimoji="1" lang="ja-JP" altLang="en-US" dirty="0"/>
          </a:p>
        </p:txBody>
      </p:sp>
    </p:spTree>
    <p:extLst>
      <p:ext uri="{BB962C8B-B14F-4D97-AF65-F5344CB8AC3E}">
        <p14:creationId xmlns:p14="http://schemas.microsoft.com/office/powerpoint/2010/main" val="1802899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Android</a:t>
            </a:r>
            <a:r>
              <a:rPr kumimoji="1" lang="ja-JP" altLang="en-US" dirty="0" smtClean="0"/>
              <a:t> アーキテクチャ</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smtClean="0"/>
              <a:t>最近はプラットフォームアーキテクチャと呼んでる。</a:t>
            </a:r>
            <a:endParaRPr kumimoji="1" lang="en-US" altLang="ja-JP" dirty="0" smtClean="0"/>
          </a:p>
          <a:p>
            <a:r>
              <a:rPr lang="ja-JP" altLang="en-US" dirty="0" smtClean="0"/>
              <a:t>基本、</a:t>
            </a:r>
            <a:r>
              <a:rPr kumimoji="1" lang="en-US" altLang="ja-JP" dirty="0" smtClean="0"/>
              <a:t>Android</a:t>
            </a:r>
            <a:r>
              <a:rPr kumimoji="1" lang="ja-JP" altLang="en-US" dirty="0" smtClean="0"/>
              <a:t>は</a:t>
            </a:r>
            <a:r>
              <a:rPr kumimoji="1" lang="en-US" altLang="ja-JP" dirty="0" smtClean="0"/>
              <a:t>Linux</a:t>
            </a:r>
            <a:r>
              <a:rPr kumimoji="1" lang="ja-JP" altLang="en-US" dirty="0" smtClean="0"/>
              <a:t>ベースの</a:t>
            </a:r>
            <a:r>
              <a:rPr kumimoji="1" lang="en-US" altLang="ja-JP" dirty="0" smtClean="0"/>
              <a:t>OS</a:t>
            </a:r>
          </a:p>
          <a:p>
            <a:r>
              <a:rPr lang="en-US" altLang="ja-JP" dirty="0" smtClean="0"/>
              <a:t>Android</a:t>
            </a:r>
            <a:r>
              <a:rPr lang="ja-JP" altLang="en-US" dirty="0" smtClean="0"/>
              <a:t>は</a:t>
            </a:r>
            <a:r>
              <a:rPr lang="en-US" altLang="ja-JP" dirty="0" smtClean="0"/>
              <a:t>Linux</a:t>
            </a:r>
            <a:r>
              <a:rPr lang="ja-JP" altLang="en-US" dirty="0" smtClean="0"/>
              <a:t>に独自のドライバを追加している。</a:t>
            </a:r>
            <a:endParaRPr lang="en-US" altLang="ja-JP" dirty="0" smtClean="0"/>
          </a:p>
          <a:p>
            <a:r>
              <a:rPr lang="en-US" altLang="ja-JP" dirty="0" err="1" smtClean="0"/>
              <a:t>LowMemoryKiller</a:t>
            </a:r>
            <a:r>
              <a:rPr lang="en-US" altLang="ja-JP" dirty="0" smtClean="0"/>
              <a:t/>
            </a:r>
            <a:br>
              <a:rPr lang="en-US" altLang="ja-JP" dirty="0" smtClean="0"/>
            </a:br>
            <a:r>
              <a:rPr lang="ja-JP" altLang="en-US" dirty="0" smtClean="0"/>
              <a:t>メモリーが不足した時に，不要なプロセスを自動的に停止する</a:t>
            </a:r>
            <a:r>
              <a:rPr lang="en-US" altLang="ja-JP" dirty="0"/>
              <a:t/>
            </a:r>
            <a:br>
              <a:rPr lang="en-US" altLang="ja-JP" dirty="0"/>
            </a:br>
            <a:r>
              <a:rPr lang="en-US" altLang="ja-JP" dirty="0" smtClean="0"/>
              <a:t>Android</a:t>
            </a:r>
            <a:r>
              <a:rPr lang="ja-JP" altLang="en-US" dirty="0" smtClean="0"/>
              <a:t>ではアプリのプロセスはすぐには終了させない。プロセスの起動</a:t>
            </a:r>
            <a:r>
              <a:rPr lang="en-US" altLang="ja-JP" dirty="0" smtClean="0"/>
              <a:t>/</a:t>
            </a:r>
            <a:r>
              <a:rPr lang="ja-JP" altLang="en-US" dirty="0" smtClean="0"/>
              <a:t>終了は高くつくので。メモリ不足がおきたときに残存プロセスを殺す。名前の通りだね。</a:t>
            </a:r>
            <a:r>
              <a:rPr kumimoji="1" lang="en-US" altLang="ja-JP" dirty="0" smtClean="0"/>
              <a:t/>
            </a:r>
            <a:br>
              <a:rPr kumimoji="1" lang="en-US" altLang="ja-JP" dirty="0" smtClean="0"/>
            </a:br>
            <a:endParaRPr kumimoji="1" lang="ja-JP" altLang="en-US" dirty="0"/>
          </a:p>
        </p:txBody>
      </p:sp>
    </p:spTree>
    <p:extLst>
      <p:ext uri="{BB962C8B-B14F-4D97-AF65-F5344CB8AC3E}">
        <p14:creationId xmlns:p14="http://schemas.microsoft.com/office/powerpoint/2010/main" val="2329629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Linux</a:t>
            </a:r>
            <a:r>
              <a:rPr kumimoji="1" lang="ja-JP" altLang="en-US" dirty="0" smtClean="0"/>
              <a:t> カーネル</a:t>
            </a:r>
            <a:endParaRPr kumimoji="1" lang="ja-JP" altLang="en-US" dirty="0"/>
          </a:p>
        </p:txBody>
      </p:sp>
      <p:sp>
        <p:nvSpPr>
          <p:cNvPr id="3" name="コンテンツ プレースホルダー 2"/>
          <p:cNvSpPr>
            <a:spLocks noGrp="1"/>
          </p:cNvSpPr>
          <p:nvPr>
            <p:ph idx="1"/>
          </p:nvPr>
        </p:nvSpPr>
        <p:spPr/>
        <p:txBody>
          <a:bodyPr>
            <a:normAutofit fontScale="92500" lnSpcReduction="20000"/>
          </a:bodyPr>
          <a:lstStyle/>
          <a:p>
            <a:r>
              <a:rPr lang="en-US" altLang="ja-JP" dirty="0" smtClean="0"/>
              <a:t>Android</a:t>
            </a:r>
            <a:r>
              <a:rPr lang="ja-JP" altLang="en-US" dirty="0" smtClean="0"/>
              <a:t>は</a:t>
            </a:r>
            <a:r>
              <a:rPr lang="en-US" altLang="ja-JP" dirty="0" smtClean="0"/>
              <a:t>Linux</a:t>
            </a:r>
            <a:r>
              <a:rPr lang="ja-JP" altLang="en-US" dirty="0" smtClean="0"/>
              <a:t>に独自のドライバを追加している。</a:t>
            </a:r>
            <a:endParaRPr lang="en-US" altLang="ja-JP" dirty="0" smtClean="0"/>
          </a:p>
          <a:p>
            <a:r>
              <a:rPr lang="en-US" altLang="ja-JP" dirty="0" err="1" smtClean="0"/>
              <a:t>LowMemoryKiller</a:t>
            </a:r>
            <a:r>
              <a:rPr lang="en-US" altLang="ja-JP" dirty="0" smtClean="0"/>
              <a:t/>
            </a:r>
            <a:br>
              <a:rPr lang="en-US" altLang="ja-JP" dirty="0" smtClean="0"/>
            </a:br>
            <a:r>
              <a:rPr lang="ja-JP" altLang="en-US" dirty="0" smtClean="0"/>
              <a:t>メモリーが不足した時に，不要なプロセスを自動的に停止する</a:t>
            </a:r>
            <a:r>
              <a:rPr lang="en-US" altLang="ja-JP" dirty="0" smtClean="0"/>
              <a:t/>
            </a:r>
            <a:br>
              <a:rPr lang="en-US" altLang="ja-JP" dirty="0" smtClean="0"/>
            </a:br>
            <a:r>
              <a:rPr lang="en-US" altLang="ja-JP" dirty="0" smtClean="0"/>
              <a:t>Android</a:t>
            </a:r>
            <a:r>
              <a:rPr lang="ja-JP" altLang="en-US" dirty="0" smtClean="0"/>
              <a:t>ではアプリのプロセスはすぐには終了させない。プロセスの起動</a:t>
            </a:r>
            <a:r>
              <a:rPr lang="en-US" altLang="ja-JP" dirty="0" smtClean="0"/>
              <a:t>/</a:t>
            </a:r>
            <a:r>
              <a:rPr lang="ja-JP" altLang="en-US" dirty="0" smtClean="0"/>
              <a:t>終了は高くつくので。メモリ不足がおきたときに残存プロセスを殺す。名前の通りだね。</a:t>
            </a:r>
            <a:endParaRPr lang="en-US" altLang="ja-JP" dirty="0" smtClean="0"/>
          </a:p>
          <a:p>
            <a:r>
              <a:rPr lang="en-US" altLang="ja-JP" dirty="0" err="1" smtClean="0"/>
              <a:t>KernelDebugger</a:t>
            </a:r>
            <a:r>
              <a:rPr lang="en-US" altLang="ja-JP" dirty="0" smtClean="0"/>
              <a:t/>
            </a:r>
            <a:br>
              <a:rPr lang="en-US" altLang="ja-JP" dirty="0" smtClean="0"/>
            </a:br>
            <a:r>
              <a:rPr lang="ja-JP" altLang="en-US" dirty="0" smtClean="0"/>
              <a:t>スマホを開発</a:t>
            </a:r>
            <a:r>
              <a:rPr lang="en-US" altLang="ja-JP" dirty="0" smtClean="0"/>
              <a:t>PC</a:t>
            </a:r>
            <a:r>
              <a:rPr lang="ja-JP" altLang="en-US" dirty="0" smtClean="0"/>
              <a:t>と</a:t>
            </a:r>
            <a:r>
              <a:rPr lang="en-US" altLang="ja-JP" dirty="0" smtClean="0"/>
              <a:t>USB</a:t>
            </a:r>
            <a:r>
              <a:rPr lang="ja-JP" altLang="en-US" dirty="0" smtClean="0"/>
              <a:t>でつないで、スマホで動作している</a:t>
            </a:r>
            <a:r>
              <a:rPr lang="en-US" altLang="ja-JP" dirty="0" smtClean="0"/>
              <a:t/>
            </a:r>
            <a:br>
              <a:rPr lang="en-US" altLang="ja-JP" dirty="0" smtClean="0"/>
            </a:br>
            <a:r>
              <a:rPr lang="en-US" altLang="ja-JP" dirty="0" err="1" smtClean="0"/>
              <a:t>Andoroid</a:t>
            </a:r>
            <a:r>
              <a:rPr lang="ja-JP" altLang="en-US" dirty="0" smtClean="0"/>
              <a:t>アプリを</a:t>
            </a:r>
            <a:r>
              <a:rPr lang="en-US" altLang="ja-JP" dirty="0" smtClean="0"/>
              <a:t>PC</a:t>
            </a:r>
            <a:r>
              <a:rPr lang="ja-JP" altLang="en-US" dirty="0" smtClean="0"/>
              <a:t>でデバッグできるのはこいつのおかげ。通常の組み込み開発だとデバッグ専用</a:t>
            </a:r>
            <a:r>
              <a:rPr lang="en-US" altLang="ja-JP" dirty="0" smtClean="0"/>
              <a:t>HW</a:t>
            </a:r>
            <a:r>
              <a:rPr lang="ja-JP" altLang="en-US" dirty="0" smtClean="0"/>
              <a:t>がいる。</a:t>
            </a:r>
            <a:r>
              <a:rPr lang="en-US" altLang="ja-JP" dirty="0" smtClean="0"/>
              <a:t/>
            </a:r>
            <a:br>
              <a:rPr lang="en-US" altLang="ja-JP" dirty="0" smtClean="0"/>
            </a:br>
            <a:r>
              <a:rPr lang="ja-JP" altLang="en-US" dirty="0" smtClean="0"/>
              <a:t>しかも、世界に</a:t>
            </a:r>
            <a:r>
              <a:rPr lang="en-US" altLang="ja-JP" dirty="0" smtClean="0"/>
              <a:t>1</a:t>
            </a:r>
            <a:r>
              <a:rPr lang="ja-JP" altLang="en-US" dirty="0" smtClean="0"/>
              <a:t>台しかないような過酷な環境で開発しないといけなかったりする。</a:t>
            </a:r>
            <a:r>
              <a:rPr lang="en-US" altLang="ja-JP" dirty="0"/>
              <a:t/>
            </a:r>
            <a:br>
              <a:rPr lang="en-US" altLang="ja-JP" dirty="0"/>
            </a:br>
            <a:endParaRPr lang="ja-JP" altLang="en-US" dirty="0"/>
          </a:p>
          <a:p>
            <a:endParaRPr kumimoji="1" lang="ja-JP" altLang="en-US" dirty="0"/>
          </a:p>
        </p:txBody>
      </p:sp>
    </p:spTree>
    <p:extLst>
      <p:ext uri="{BB962C8B-B14F-4D97-AF65-F5344CB8AC3E}">
        <p14:creationId xmlns:p14="http://schemas.microsoft.com/office/powerpoint/2010/main" val="783825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2"/>
          <p:cNvSpPr txBox="1">
            <a:spLocks/>
          </p:cNvSpPr>
          <p:nvPr/>
        </p:nvSpPr>
        <p:spPr>
          <a:xfrm>
            <a:off x="838200" y="461176"/>
            <a:ext cx="10515600" cy="57157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b="1" dirty="0" smtClean="0"/>
              <a:t>Binder</a:t>
            </a:r>
            <a:br>
              <a:rPr lang="en-US" altLang="ja-JP" b="1" dirty="0" smtClean="0"/>
            </a:br>
            <a:r>
              <a:rPr lang="ja-JP" altLang="en-US" b="1" dirty="0" smtClean="0"/>
              <a:t>プロセス間で通信する機能</a:t>
            </a:r>
            <a:r>
              <a:rPr lang="en-US" altLang="ja-JP" b="1" dirty="0" smtClean="0"/>
              <a:t/>
            </a:r>
            <a:br>
              <a:rPr lang="en-US" altLang="ja-JP" b="1" dirty="0" smtClean="0"/>
            </a:br>
            <a:r>
              <a:rPr lang="ja-JP" altLang="en-US" dirty="0"/>
              <a:t>「アクティビティ」と「サービス」という</a:t>
            </a:r>
            <a:r>
              <a:rPr lang="en-US" altLang="ja-JP" dirty="0"/>
              <a:t>2</a:t>
            </a:r>
            <a:r>
              <a:rPr lang="ja-JP" altLang="en-US" dirty="0" err="1"/>
              <a:t>つの</a:t>
            </a:r>
            <a:r>
              <a:rPr lang="ja-JP" altLang="en-US" dirty="0"/>
              <a:t>要素で構成されている</a:t>
            </a:r>
            <a:r>
              <a:rPr lang="ja-JP" altLang="en-US" dirty="0" smtClean="0"/>
              <a:t>。</a:t>
            </a:r>
            <a:r>
              <a:rPr lang="ja-JP" altLang="en-US" dirty="0"/>
              <a:t>　アクティビティは，一つの画面を持つプログラムだ。画面が表示されている間は実行中となるが，ユーザーが終了したり，電話の着信などの割り込みが発生して画面が消えたりすると，待機状態に</a:t>
            </a:r>
            <a:r>
              <a:rPr lang="ja-JP" altLang="en-US" dirty="0" smtClean="0"/>
              <a:t>なる。</a:t>
            </a:r>
            <a:endParaRPr lang="en-US" altLang="ja-JP" dirty="0" smtClean="0"/>
          </a:p>
          <a:p>
            <a:r>
              <a:rPr lang="ja-JP" altLang="en-US" dirty="0" smtClean="0"/>
              <a:t>サービスは，画面を持たず常にバックグラウンド・プロセスとして動作するプログラムだ。システムに常駐し，他のアプリケーションからの要求に応じて処理を実行する“デーモン”プログラムに近い。</a:t>
            </a:r>
          </a:p>
          <a:p>
            <a:endParaRPr lang="ja-JP" altLang="en-US" dirty="0"/>
          </a:p>
          <a:p>
            <a:pPr marL="0" indent="0">
              <a:buNone/>
            </a:pPr>
            <a:r>
              <a:rPr lang="en-US" altLang="ja-JP" dirty="0" smtClean="0"/>
              <a:t/>
            </a:r>
            <a:br>
              <a:rPr lang="en-US" altLang="ja-JP" dirty="0" smtClean="0"/>
            </a:br>
            <a:endParaRPr lang="ja-JP" altLang="en-US" dirty="0"/>
          </a:p>
        </p:txBody>
      </p:sp>
    </p:spTree>
    <p:extLst>
      <p:ext uri="{BB962C8B-B14F-4D97-AF65-F5344CB8AC3E}">
        <p14:creationId xmlns:p14="http://schemas.microsoft.com/office/powerpoint/2010/main" val="1103764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2"/>
          <p:cNvSpPr txBox="1">
            <a:spLocks/>
          </p:cNvSpPr>
          <p:nvPr/>
        </p:nvSpPr>
        <p:spPr>
          <a:xfrm>
            <a:off x="838200" y="461176"/>
            <a:ext cx="10515600" cy="57157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smtClean="0"/>
              <a:t>サービス</a:t>
            </a:r>
            <a:r>
              <a:rPr lang="ja-JP" altLang="en-US" dirty="0"/>
              <a:t>はそれ自身が画面を持たないため，ユーザーがパラメータを設定する際は，画面を持つアクティビティを介す。しかし，サービスとアクティビティは，それぞれ動作するプロセスが異なる場合もあるので，プロセス間通信の仕組みが必要となる</a:t>
            </a:r>
            <a:r>
              <a:rPr lang="ja-JP" altLang="en-US" dirty="0" smtClean="0"/>
              <a:t>。その</a:t>
            </a:r>
            <a:r>
              <a:rPr lang="ja-JP" altLang="en-US" dirty="0"/>
              <a:t>プロセス間通信を実現するのが，この</a:t>
            </a:r>
            <a:r>
              <a:rPr lang="en-US" altLang="ja-JP" dirty="0"/>
              <a:t>Binder</a:t>
            </a:r>
            <a:r>
              <a:rPr lang="ja-JP" altLang="en-US" dirty="0"/>
              <a:t>ドライバである。実際の通信は，カーネルより上のフレームワーク層が制御する。アプリケーション開発者は，</a:t>
            </a:r>
            <a:r>
              <a:rPr lang="en-US" altLang="ja-JP" dirty="0"/>
              <a:t>AIDL</a:t>
            </a:r>
            <a:r>
              <a:rPr lang="ja-JP" altLang="en-US" dirty="0"/>
              <a:t>（</a:t>
            </a:r>
            <a:r>
              <a:rPr lang="en-US" altLang="ja-JP" dirty="0" err="1"/>
              <a:t>AndroidInterfaceDefinitionLanguage</a:t>
            </a:r>
            <a:r>
              <a:rPr lang="ja-JP" altLang="en-US" dirty="0"/>
              <a:t>）と呼ぶ記述言語で入出力のインタフェースを定義するだけでよく，ドライバを直接意識しないで済む</a:t>
            </a:r>
            <a:r>
              <a:rPr lang="ja-JP" altLang="en-US" dirty="0" smtClean="0"/>
              <a:t>。</a:t>
            </a:r>
            <a:r>
              <a:rPr lang="en-US" altLang="ja-JP" dirty="0" smtClean="0"/>
              <a:t/>
            </a:r>
            <a:br>
              <a:rPr lang="en-US" altLang="ja-JP" dirty="0" smtClean="0"/>
            </a:br>
            <a:endParaRPr lang="ja-JP" altLang="en-US" dirty="0"/>
          </a:p>
        </p:txBody>
      </p:sp>
    </p:spTree>
    <p:extLst>
      <p:ext uri="{BB962C8B-B14F-4D97-AF65-F5344CB8AC3E}">
        <p14:creationId xmlns:p14="http://schemas.microsoft.com/office/powerpoint/2010/main" val="3778501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仮想マシン</a:t>
            </a:r>
            <a:endParaRPr kumimoji="1" lang="ja-JP" altLang="en-US" dirty="0"/>
          </a:p>
        </p:txBody>
      </p:sp>
      <p:sp>
        <p:nvSpPr>
          <p:cNvPr id="3" name="コンテンツ プレースホルダー 2"/>
          <p:cNvSpPr>
            <a:spLocks noGrp="1"/>
          </p:cNvSpPr>
          <p:nvPr>
            <p:ph idx="1"/>
          </p:nvPr>
        </p:nvSpPr>
        <p:spPr/>
        <p:txBody>
          <a:bodyPr>
            <a:normAutofit/>
          </a:bodyPr>
          <a:lstStyle/>
          <a:p>
            <a:r>
              <a:rPr kumimoji="1" lang="en-US" altLang="ja-JP" dirty="0" smtClean="0"/>
              <a:t>Java</a:t>
            </a:r>
            <a:r>
              <a:rPr kumimoji="1" lang="ja-JP" altLang="en-US" dirty="0" smtClean="0"/>
              <a:t>仮想マシンみたいなもの。</a:t>
            </a:r>
            <a:r>
              <a:rPr kumimoji="1" lang="en-US" altLang="ja-JP" dirty="0" smtClean="0"/>
              <a:t>Java</a:t>
            </a:r>
            <a:r>
              <a:rPr kumimoji="1" lang="ja-JP" altLang="en-US" dirty="0" smtClean="0"/>
              <a:t>と互換はないので下記のような名前がついている。</a:t>
            </a:r>
            <a:r>
              <a:rPr kumimoji="1" lang="en-US" altLang="ja-JP" dirty="0" smtClean="0"/>
              <a:t>Java</a:t>
            </a:r>
            <a:r>
              <a:rPr kumimoji="1" lang="ja-JP" altLang="en-US" dirty="0" smtClean="0"/>
              <a:t>実行環境。複数</a:t>
            </a:r>
            <a:r>
              <a:rPr kumimoji="1" lang="en-US" altLang="ja-JP" dirty="0" smtClean="0"/>
              <a:t>VM</a:t>
            </a:r>
            <a:r>
              <a:rPr kumimoji="1" lang="ja-JP" altLang="en-US" dirty="0" smtClean="0"/>
              <a:t>の管理。メモリ管理。等</a:t>
            </a:r>
            <a:endParaRPr kumimoji="1" lang="en-US" altLang="ja-JP" dirty="0" smtClean="0"/>
          </a:p>
          <a:p>
            <a:r>
              <a:rPr kumimoji="1" lang="en-US" altLang="ja-JP" dirty="0" err="1" smtClean="0"/>
              <a:t>Dalvik</a:t>
            </a:r>
            <a:r>
              <a:rPr kumimoji="1" lang="en-US" altLang="ja-JP" dirty="0" smtClean="0"/>
              <a:t/>
            </a:r>
            <a:br>
              <a:rPr kumimoji="1" lang="en-US" altLang="ja-JP" dirty="0" smtClean="0"/>
            </a:br>
            <a:r>
              <a:rPr kumimoji="1" lang="ja-JP" altLang="en-US" dirty="0" smtClean="0"/>
              <a:t>組み込み系の開発ならまだこちらを使用している</a:t>
            </a:r>
            <a:r>
              <a:rPr kumimoji="1" lang="en-US" altLang="ja-JP" dirty="0" err="1" smtClean="0"/>
              <a:t>Prj</a:t>
            </a:r>
            <a:r>
              <a:rPr kumimoji="1" lang="ja-JP" altLang="en-US" dirty="0" err="1" smtClean="0"/>
              <a:t>のほうが</a:t>
            </a:r>
            <a:r>
              <a:rPr kumimoji="1" lang="ja-JP" altLang="en-US" dirty="0" smtClean="0"/>
              <a:t>多いのでは。私もこいつしかしらない。</a:t>
            </a:r>
            <a:endParaRPr kumimoji="1" lang="en-US" altLang="ja-JP" dirty="0" smtClean="0"/>
          </a:p>
          <a:p>
            <a:r>
              <a:rPr lang="en-US" altLang="ja-JP" dirty="0"/>
              <a:t>Android</a:t>
            </a:r>
            <a:r>
              <a:rPr lang="ja-JP" altLang="en-US" dirty="0" smtClean="0"/>
              <a:t>ランタイム</a:t>
            </a:r>
            <a:r>
              <a:rPr lang="en-US" altLang="ja-JP" dirty="0" smtClean="0"/>
              <a:t>(ART)</a:t>
            </a:r>
            <a:br>
              <a:rPr lang="en-US" altLang="ja-JP" dirty="0" smtClean="0"/>
            </a:br>
            <a:r>
              <a:rPr lang="en-US" altLang="ja-JP" dirty="0" smtClean="0"/>
              <a:t>Android</a:t>
            </a:r>
            <a:r>
              <a:rPr lang="ja-JP" altLang="en-US" dirty="0" smtClean="0"/>
              <a:t> </a:t>
            </a:r>
            <a:r>
              <a:rPr lang="en-US" altLang="ja-JP" dirty="0" smtClean="0"/>
              <a:t>5(API </a:t>
            </a:r>
            <a:r>
              <a:rPr lang="ja-JP" altLang="en-US" dirty="0"/>
              <a:t>レベル </a:t>
            </a:r>
            <a:r>
              <a:rPr lang="en-US" altLang="ja-JP" dirty="0" smtClean="0"/>
              <a:t>21)</a:t>
            </a:r>
            <a:r>
              <a:rPr lang="ja-JP" altLang="en-US" dirty="0" smtClean="0"/>
              <a:t>以降で使用するようになったランタイム。</a:t>
            </a:r>
            <a:r>
              <a:rPr lang="en-US" altLang="ja-JP" dirty="0" err="1" smtClean="0"/>
              <a:t>Dalvik</a:t>
            </a:r>
            <a:r>
              <a:rPr lang="ja-JP" altLang="en-US" dirty="0" smtClean="0"/>
              <a:t>より早く、小さく、便利になっている。</a:t>
            </a:r>
            <a:r>
              <a:rPr lang="en-US" altLang="ja-JP" dirty="0" smtClean="0"/>
              <a:t/>
            </a:r>
            <a:br>
              <a:rPr lang="en-US" altLang="ja-JP" dirty="0" smtClean="0"/>
            </a:br>
            <a:r>
              <a:rPr lang="ja-JP" altLang="en-US" dirty="0" smtClean="0"/>
              <a:t>使ったことがないからよくわからない。</a:t>
            </a:r>
            <a:endParaRPr kumimoji="1" lang="ja-JP" altLang="en-US" dirty="0"/>
          </a:p>
        </p:txBody>
      </p:sp>
    </p:spTree>
    <p:extLst>
      <p:ext uri="{BB962C8B-B14F-4D97-AF65-F5344CB8AC3E}">
        <p14:creationId xmlns:p14="http://schemas.microsoft.com/office/powerpoint/2010/main" val="2566850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ネイティブ </a:t>
            </a:r>
            <a:r>
              <a:rPr lang="en-US" altLang="ja-JP" dirty="0"/>
              <a:t>C/C++ </a:t>
            </a:r>
            <a:r>
              <a:rPr lang="ja-JP" altLang="en-US" dirty="0"/>
              <a:t>言語 ライブラリ</a:t>
            </a:r>
          </a:p>
        </p:txBody>
      </p:sp>
      <p:sp>
        <p:nvSpPr>
          <p:cNvPr id="3" name="コンテンツ プレースホルダー 2"/>
          <p:cNvSpPr>
            <a:spLocks noGrp="1"/>
          </p:cNvSpPr>
          <p:nvPr>
            <p:ph idx="1"/>
          </p:nvPr>
        </p:nvSpPr>
        <p:spPr/>
        <p:txBody>
          <a:bodyPr/>
          <a:lstStyle/>
          <a:p>
            <a:r>
              <a:rPr kumimoji="1" lang="en-US" altLang="ja-JP" dirty="0" smtClean="0"/>
              <a:t>Android</a:t>
            </a:r>
            <a:r>
              <a:rPr kumimoji="1" lang="ja-JP" altLang="en-US" dirty="0" smtClean="0"/>
              <a:t>用の</a:t>
            </a:r>
            <a:r>
              <a:rPr kumimoji="1" lang="en-US" altLang="ja-JP" dirty="0" smtClean="0"/>
              <a:t>Linux</a:t>
            </a:r>
            <a:r>
              <a:rPr kumimoji="1" lang="ja-JP" altLang="en-US" dirty="0" smtClean="0"/>
              <a:t>でいう </a:t>
            </a:r>
            <a:r>
              <a:rPr kumimoji="1" lang="en-US" altLang="ja-JP" dirty="0" err="1" smtClean="0"/>
              <a:t>libc</a:t>
            </a:r>
            <a:r>
              <a:rPr kumimoji="1" lang="ja-JP" altLang="en-US" dirty="0" smtClean="0"/>
              <a:t>みたいなもの。</a:t>
            </a:r>
            <a:r>
              <a:rPr kumimoji="1" lang="en-US" altLang="ja-JP" dirty="0" smtClean="0"/>
              <a:t>VM</a:t>
            </a:r>
            <a:r>
              <a:rPr lang="ja-JP" altLang="en-US" dirty="0" smtClean="0"/>
              <a:t>から使用するが、</a:t>
            </a:r>
            <a:r>
              <a:rPr kumimoji="1" lang="en-US" altLang="ja-JP" dirty="0" smtClean="0"/>
              <a:t>Java</a:t>
            </a:r>
            <a:r>
              <a:rPr kumimoji="1" lang="ja-JP" altLang="en-US" dirty="0" smtClean="0"/>
              <a:t> </a:t>
            </a:r>
            <a:r>
              <a:rPr kumimoji="1" lang="en-US" altLang="ja-JP" dirty="0" smtClean="0"/>
              <a:t>API</a:t>
            </a:r>
            <a:r>
              <a:rPr kumimoji="1" lang="ja-JP" altLang="en-US" dirty="0" smtClean="0"/>
              <a:t>からも使用する。</a:t>
            </a:r>
            <a:endParaRPr kumimoji="1" lang="ja-JP" altLang="en-US" dirty="0"/>
          </a:p>
        </p:txBody>
      </p:sp>
    </p:spTree>
    <p:extLst>
      <p:ext uri="{BB962C8B-B14F-4D97-AF65-F5344CB8AC3E}">
        <p14:creationId xmlns:p14="http://schemas.microsoft.com/office/powerpoint/2010/main" val="3797659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Java</a:t>
            </a:r>
            <a:r>
              <a:rPr lang="ja-JP" altLang="en-US" dirty="0" smtClean="0"/>
              <a:t> </a:t>
            </a:r>
            <a:r>
              <a:rPr lang="en-US" altLang="ja-JP" dirty="0" smtClean="0"/>
              <a:t>API</a:t>
            </a:r>
            <a:endParaRPr lang="ja-JP" altLang="en-US" dirty="0"/>
          </a:p>
        </p:txBody>
      </p:sp>
      <p:sp>
        <p:nvSpPr>
          <p:cNvPr id="3" name="コンテンツ プレースホルダー 2"/>
          <p:cNvSpPr>
            <a:spLocks noGrp="1"/>
          </p:cNvSpPr>
          <p:nvPr>
            <p:ph idx="1"/>
          </p:nvPr>
        </p:nvSpPr>
        <p:spPr/>
        <p:txBody>
          <a:bodyPr/>
          <a:lstStyle/>
          <a:p>
            <a:r>
              <a:rPr lang="en-US" altLang="ja-JP" dirty="0" smtClean="0"/>
              <a:t>Java</a:t>
            </a:r>
            <a:r>
              <a:rPr lang="ja-JP" altLang="en-US" dirty="0" smtClean="0"/>
              <a:t>言語で</a:t>
            </a:r>
            <a:r>
              <a:rPr lang="en-US" altLang="ja-JP" dirty="0" smtClean="0"/>
              <a:t>VM</a:t>
            </a:r>
            <a:r>
              <a:rPr lang="ja-JP" altLang="en-US" dirty="0" smtClean="0"/>
              <a:t>や</a:t>
            </a:r>
            <a:r>
              <a:rPr lang="ja-JP" altLang="en-US" dirty="0"/>
              <a:t>ネイティブ </a:t>
            </a:r>
            <a:r>
              <a:rPr lang="en-US" altLang="ja-JP" dirty="0"/>
              <a:t>C/C++ </a:t>
            </a:r>
            <a:r>
              <a:rPr lang="ja-JP" altLang="en-US" dirty="0"/>
              <a:t>言語 </a:t>
            </a:r>
            <a:r>
              <a:rPr lang="ja-JP" altLang="en-US" dirty="0" smtClean="0"/>
              <a:t>ライブラリを利用できるようにした</a:t>
            </a:r>
            <a:r>
              <a:rPr lang="en-US" altLang="ja-JP" dirty="0" smtClean="0"/>
              <a:t>API</a:t>
            </a:r>
            <a:endParaRPr kumimoji="1" lang="en-US" altLang="ja-JP" dirty="0"/>
          </a:p>
          <a:p>
            <a:r>
              <a:rPr lang="en-US" altLang="ja-JP" dirty="0" smtClean="0"/>
              <a:t>Android</a:t>
            </a:r>
            <a:r>
              <a:rPr lang="ja-JP" altLang="en-US" dirty="0" smtClean="0"/>
              <a:t>アプリを作成するのは、この</a:t>
            </a:r>
            <a:r>
              <a:rPr lang="en-US" altLang="ja-JP" dirty="0" smtClean="0"/>
              <a:t>API</a:t>
            </a:r>
            <a:r>
              <a:rPr lang="ja-JP" altLang="en-US" dirty="0" smtClean="0"/>
              <a:t>を理解してコードを書いていくことです。</a:t>
            </a:r>
            <a:endParaRPr lang="en-US" altLang="ja-JP" dirty="0" smtClean="0"/>
          </a:p>
          <a:p>
            <a:r>
              <a:rPr lang="ja-JP" altLang="en-US" dirty="0"/>
              <a:t>たいていの解析困難なバグ</a:t>
            </a:r>
            <a:r>
              <a:rPr lang="ja-JP" altLang="en-US" dirty="0" smtClean="0"/>
              <a:t>は、ここの中でおかしくなっている。</a:t>
            </a:r>
            <a:r>
              <a:rPr lang="en-US" altLang="ja-JP" dirty="0"/>
              <a:t/>
            </a:r>
            <a:br>
              <a:rPr lang="en-US" altLang="ja-JP" dirty="0"/>
            </a:br>
            <a:r>
              <a:rPr lang="ja-JP" altLang="en-US" dirty="0"/>
              <a:t>きっといつかこのコードを解析することになるので知っておこう</a:t>
            </a:r>
            <a:r>
              <a:rPr lang="ja-JP" altLang="en-US" dirty="0" smtClean="0"/>
              <a:t>。</a:t>
            </a:r>
            <a:endParaRPr lang="ja-JP" altLang="en-US" dirty="0"/>
          </a:p>
          <a:p>
            <a:endParaRPr kumimoji="1" lang="ja-JP" altLang="en-US" dirty="0"/>
          </a:p>
        </p:txBody>
      </p:sp>
    </p:spTree>
    <p:extLst>
      <p:ext uri="{BB962C8B-B14F-4D97-AF65-F5344CB8AC3E}">
        <p14:creationId xmlns:p14="http://schemas.microsoft.com/office/powerpoint/2010/main" val="2390850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Android</a:t>
            </a:r>
            <a:r>
              <a:rPr kumimoji="1" lang="ja-JP" altLang="en-US" dirty="0" smtClean="0"/>
              <a:t>アプリの基礎</a:t>
            </a:r>
            <a:endParaRPr kumimoji="1" lang="ja-JP" altLang="en-US" dirty="0"/>
          </a:p>
        </p:txBody>
      </p:sp>
      <p:sp>
        <p:nvSpPr>
          <p:cNvPr id="3" name="コンテンツ プレースホルダー 2"/>
          <p:cNvSpPr>
            <a:spLocks noGrp="1"/>
          </p:cNvSpPr>
          <p:nvPr>
            <p:ph idx="1"/>
          </p:nvPr>
        </p:nvSpPr>
        <p:spPr/>
        <p:txBody>
          <a:bodyPr/>
          <a:lstStyle/>
          <a:p>
            <a:r>
              <a:rPr lang="en-US" altLang="ja-JP" dirty="0"/>
              <a:t>Android </a:t>
            </a:r>
            <a:r>
              <a:rPr lang="ja-JP" altLang="en-US" dirty="0"/>
              <a:t>アプリは </a:t>
            </a:r>
            <a:r>
              <a:rPr lang="en-US" altLang="ja-JP" dirty="0" err="1"/>
              <a:t>Kotlin</a:t>
            </a:r>
            <a:r>
              <a:rPr lang="en-US" altLang="ja-JP" dirty="0"/>
              <a:t> </a:t>
            </a:r>
            <a:r>
              <a:rPr lang="ja-JP" altLang="en-US" dirty="0"/>
              <a:t>や </a:t>
            </a:r>
            <a:r>
              <a:rPr lang="en-US" altLang="ja-JP" dirty="0"/>
              <a:t>Java</a:t>
            </a:r>
            <a:r>
              <a:rPr lang="ja-JP" altLang="en-US" dirty="0" err="1"/>
              <a:t>、</a:t>
            </a:r>
            <a:r>
              <a:rPr lang="en-US" altLang="ja-JP" dirty="0"/>
              <a:t>C++ </a:t>
            </a:r>
            <a:r>
              <a:rPr lang="ja-JP" altLang="en-US" dirty="0"/>
              <a:t>言語を使用して記述できます。</a:t>
            </a:r>
            <a:r>
              <a:rPr lang="en-US" altLang="ja-JP" dirty="0"/>
              <a:t>Android SDK </a:t>
            </a:r>
            <a:r>
              <a:rPr lang="ja-JP" altLang="en-US" dirty="0"/>
              <a:t>ツールは、コードをデータやリソース ファイルと一緒に </a:t>
            </a:r>
            <a:r>
              <a:rPr lang="en-US" altLang="ja-JP" dirty="0"/>
              <a:t>APK</a:t>
            </a:r>
            <a:r>
              <a:rPr lang="ja-JP" altLang="en-US" dirty="0"/>
              <a:t>（</a:t>
            </a:r>
            <a:r>
              <a:rPr lang="en-US" altLang="ja-JP" dirty="0"/>
              <a:t>Android </a:t>
            </a:r>
            <a:r>
              <a:rPr lang="ja-JP" altLang="en-US" dirty="0"/>
              <a:t>パッケージ）にコンパイルします。これは、</a:t>
            </a:r>
            <a:r>
              <a:rPr lang="en-US" altLang="ja-JP" dirty="0"/>
              <a:t>.</a:t>
            </a:r>
            <a:r>
              <a:rPr lang="en-US" altLang="ja-JP" dirty="0" err="1"/>
              <a:t>apk</a:t>
            </a:r>
            <a:r>
              <a:rPr lang="en-US" altLang="ja-JP" dirty="0"/>
              <a:t> </a:t>
            </a:r>
            <a:r>
              <a:rPr lang="ja-JP" altLang="en-US" dirty="0"/>
              <a:t>という接尾語の付いたアーカイブ ファイルです。</a:t>
            </a:r>
            <a:r>
              <a:rPr lang="en-US" altLang="ja-JP" dirty="0"/>
              <a:t>1 </a:t>
            </a:r>
            <a:r>
              <a:rPr lang="ja-JP" altLang="en-US" dirty="0"/>
              <a:t>つの </a:t>
            </a:r>
            <a:r>
              <a:rPr lang="en-US" altLang="ja-JP" dirty="0"/>
              <a:t>APK </a:t>
            </a:r>
            <a:r>
              <a:rPr lang="ja-JP" altLang="en-US" dirty="0"/>
              <a:t>ファイルに </a:t>
            </a:r>
            <a:r>
              <a:rPr lang="en-US" altLang="ja-JP" dirty="0"/>
              <a:t>Android </a:t>
            </a:r>
            <a:r>
              <a:rPr lang="ja-JP" altLang="en-US" dirty="0"/>
              <a:t>アプリのすべてのコンテンツが含まれており、</a:t>
            </a:r>
            <a:r>
              <a:rPr lang="en-US" altLang="ja-JP" dirty="0"/>
              <a:t>Android </a:t>
            </a:r>
            <a:r>
              <a:rPr lang="ja-JP" altLang="en-US" dirty="0"/>
              <a:t>端末はアプリをインストールする際にこのファイルを使用します</a:t>
            </a:r>
            <a:r>
              <a:rPr lang="ja-JP" altLang="en-US" dirty="0" smtClean="0"/>
              <a:t>。</a:t>
            </a:r>
            <a:endParaRPr lang="en-US" altLang="ja-JP" dirty="0" smtClean="0"/>
          </a:p>
          <a:p>
            <a:endParaRPr kumimoji="1" lang="ja-JP" altLang="en-US" dirty="0"/>
          </a:p>
        </p:txBody>
      </p:sp>
    </p:spTree>
    <p:extLst>
      <p:ext uri="{BB962C8B-B14F-4D97-AF65-F5344CB8AC3E}">
        <p14:creationId xmlns:p14="http://schemas.microsoft.com/office/powerpoint/2010/main" val="1914949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2"/>
          <p:cNvSpPr txBox="1">
            <a:spLocks/>
          </p:cNvSpPr>
          <p:nvPr/>
        </p:nvSpPr>
        <p:spPr>
          <a:xfrm>
            <a:off x="838200" y="461176"/>
            <a:ext cx="10515600" cy="602576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smtClean="0"/>
              <a:t>各 </a:t>
            </a:r>
            <a:r>
              <a:rPr lang="en-US" altLang="ja-JP" dirty="0"/>
              <a:t>Android </a:t>
            </a:r>
            <a:r>
              <a:rPr lang="ja-JP" altLang="en-US" dirty="0"/>
              <a:t>アプリはそれぞれのセキュリティ サンドボックス内で動作し、以下の </a:t>
            </a:r>
            <a:r>
              <a:rPr lang="en-US" altLang="ja-JP" dirty="0"/>
              <a:t>Android </a:t>
            </a:r>
            <a:r>
              <a:rPr lang="ja-JP" altLang="en-US" dirty="0"/>
              <a:t>のセキュリティ機能により保護されています</a:t>
            </a:r>
            <a:r>
              <a:rPr lang="ja-JP" altLang="en-US" dirty="0" smtClean="0"/>
              <a:t>。</a:t>
            </a:r>
            <a:endParaRPr lang="en-US" altLang="ja-JP" dirty="0" smtClean="0"/>
          </a:p>
          <a:p>
            <a:pPr lvl="1"/>
            <a:r>
              <a:rPr lang="en-US" altLang="ja-JP" dirty="0"/>
              <a:t>Android </a:t>
            </a:r>
            <a:r>
              <a:rPr lang="ja-JP" altLang="en-US" dirty="0"/>
              <a:t>オペレーティング システムはマルチユーザーの </a:t>
            </a:r>
            <a:r>
              <a:rPr lang="en-US" altLang="ja-JP" dirty="0"/>
              <a:t>Linux </a:t>
            </a:r>
            <a:r>
              <a:rPr lang="ja-JP" altLang="en-US" dirty="0"/>
              <a:t>システムであり、各アプリがそれぞれ異なるユーザーになります</a:t>
            </a:r>
            <a:r>
              <a:rPr lang="ja-JP" altLang="en-US" dirty="0" smtClean="0"/>
              <a:t>。</a:t>
            </a:r>
            <a:endParaRPr lang="en-US" altLang="ja-JP" dirty="0" smtClean="0"/>
          </a:p>
          <a:p>
            <a:pPr lvl="1"/>
            <a:r>
              <a:rPr lang="ja-JP" altLang="en-US" dirty="0"/>
              <a:t>デフォルトで、各アプリに一意の </a:t>
            </a:r>
            <a:r>
              <a:rPr lang="en-US" altLang="ja-JP" dirty="0"/>
              <a:t>Linux </a:t>
            </a:r>
            <a:r>
              <a:rPr lang="ja-JP" altLang="en-US" dirty="0"/>
              <a:t>ユーザー </a:t>
            </a:r>
            <a:r>
              <a:rPr lang="en-US" altLang="ja-JP" dirty="0"/>
              <a:t>ID </a:t>
            </a:r>
            <a:r>
              <a:rPr lang="ja-JP" altLang="en-US" dirty="0"/>
              <a:t>が割り当てられます（</a:t>
            </a:r>
            <a:r>
              <a:rPr lang="en-US" altLang="ja-JP" dirty="0"/>
              <a:t>ID </a:t>
            </a:r>
            <a:r>
              <a:rPr lang="ja-JP" altLang="en-US" dirty="0"/>
              <a:t>はシステムのみで使用され、アプリは </a:t>
            </a:r>
            <a:r>
              <a:rPr lang="en-US" altLang="ja-JP" dirty="0"/>
              <a:t>ID </a:t>
            </a:r>
            <a:r>
              <a:rPr lang="ja-JP" altLang="en-US" dirty="0"/>
              <a:t>を関知しません）。アプリに割り当てられたユーザー </a:t>
            </a:r>
            <a:r>
              <a:rPr lang="en-US" altLang="ja-JP" dirty="0"/>
              <a:t>ID </a:t>
            </a:r>
            <a:r>
              <a:rPr lang="ja-JP" altLang="en-US" dirty="0"/>
              <a:t>のみがアプリ内のすべてのファイルにアクセスできるよう、パーミッションが設定されます</a:t>
            </a:r>
            <a:r>
              <a:rPr lang="ja-JP" altLang="en-US" dirty="0" smtClean="0"/>
              <a:t>。</a:t>
            </a:r>
            <a:endParaRPr lang="en-US" altLang="ja-JP" dirty="0" smtClean="0"/>
          </a:p>
          <a:p>
            <a:pPr lvl="1"/>
            <a:r>
              <a:rPr lang="ja-JP" altLang="en-US" dirty="0"/>
              <a:t>各プロセスにはそれぞれ独自の仮想マシン（</a:t>
            </a:r>
            <a:r>
              <a:rPr lang="en-US" altLang="ja-JP" dirty="0"/>
              <a:t>VM</a:t>
            </a:r>
            <a:r>
              <a:rPr lang="ja-JP" altLang="en-US" dirty="0"/>
              <a:t>）があるため、アプリのコードは他のアプリとは分離して実行</a:t>
            </a:r>
            <a:r>
              <a:rPr lang="ja-JP" altLang="en-US" dirty="0" smtClean="0"/>
              <a:t>されます</a:t>
            </a:r>
            <a:endParaRPr lang="en-US" altLang="ja-JP" dirty="0" smtClean="0"/>
          </a:p>
          <a:p>
            <a:pPr lvl="1"/>
            <a:r>
              <a:rPr lang="ja-JP" altLang="en-US" dirty="0"/>
              <a:t>デフォルトで、すべてのアプリは独自の </a:t>
            </a:r>
            <a:r>
              <a:rPr lang="en-US" altLang="ja-JP" dirty="0"/>
              <a:t>Linux </a:t>
            </a:r>
            <a:r>
              <a:rPr lang="ja-JP" altLang="en-US" dirty="0"/>
              <a:t>プロセスで実行されます。</a:t>
            </a:r>
            <a:r>
              <a:rPr lang="en-US" altLang="ja-JP" dirty="0"/>
              <a:t>Android </a:t>
            </a:r>
            <a:r>
              <a:rPr lang="ja-JP" altLang="en-US" dirty="0"/>
              <a:t>システムはアプリのコンポーネントのいずれかを実行する必要があるときにプロセスを開始し、それが必要なくなったときや、システムが他のアプリ用にメモリを回復させる必要があるときにプロセスをシャットダウンします。</a:t>
            </a:r>
          </a:p>
        </p:txBody>
      </p:sp>
    </p:spTree>
    <p:extLst>
      <p:ext uri="{BB962C8B-B14F-4D97-AF65-F5344CB8AC3E}">
        <p14:creationId xmlns:p14="http://schemas.microsoft.com/office/powerpoint/2010/main" val="4167158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2"/>
          <p:cNvSpPr txBox="1">
            <a:spLocks/>
          </p:cNvSpPr>
          <p:nvPr/>
        </p:nvSpPr>
        <p:spPr>
          <a:xfrm>
            <a:off x="838200" y="461176"/>
            <a:ext cx="10515600" cy="602576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smtClean="0"/>
              <a:t>Android </a:t>
            </a:r>
            <a:r>
              <a:rPr lang="ja-JP" altLang="en-US" dirty="0"/>
              <a:t>システムには「</a:t>
            </a:r>
            <a:r>
              <a:rPr lang="ja-JP" altLang="en-US" i="1" dirty="0"/>
              <a:t>最小権限の原則</a:t>
            </a:r>
            <a:r>
              <a:rPr lang="ja-JP" altLang="en-US" dirty="0"/>
              <a:t>」が適用されています。つまり、デフォルトでは各アプリにコンポーネントの動作に必要な分だけのアクセス権が与えられます。これにより、パーミッションの与えられていないシステムの部分にアプリはアクセスできないという非常に安全性の高い環境が作り出されます。ただし、次のように、アプリが他のアプリとデータを共有したり、システムのサービスにアクセスしたりするための方法はあります。</a:t>
            </a:r>
            <a:endParaRPr lang="en-US" altLang="ja-JP" dirty="0" smtClean="0"/>
          </a:p>
        </p:txBody>
      </p:sp>
    </p:spTree>
    <p:extLst>
      <p:ext uri="{BB962C8B-B14F-4D97-AF65-F5344CB8AC3E}">
        <p14:creationId xmlns:p14="http://schemas.microsoft.com/office/powerpoint/2010/main" val="770733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Android</a:t>
            </a:r>
            <a:r>
              <a:rPr kumimoji="1" lang="ja-JP" altLang="en-US" dirty="0" smtClean="0"/>
              <a:t>アプリのコンポーネント</a:t>
            </a:r>
            <a:endParaRPr kumimoji="1" lang="ja-JP" altLang="en-US" dirty="0"/>
          </a:p>
        </p:txBody>
      </p:sp>
      <p:sp>
        <p:nvSpPr>
          <p:cNvPr id="3" name="コンテンツ プレースホルダー 2"/>
          <p:cNvSpPr>
            <a:spLocks noGrp="1"/>
          </p:cNvSpPr>
          <p:nvPr>
            <p:ph idx="1"/>
          </p:nvPr>
        </p:nvSpPr>
        <p:spPr/>
        <p:txBody>
          <a:bodyPr/>
          <a:lstStyle/>
          <a:p>
            <a:r>
              <a:rPr lang="ja-JP" altLang="en-US" dirty="0" smtClean="0"/>
              <a:t>アプリ</a:t>
            </a:r>
            <a:r>
              <a:rPr lang="ja-JP" altLang="en-US" dirty="0"/>
              <a:t>のコンポーネントには </a:t>
            </a:r>
            <a:r>
              <a:rPr lang="en-US" altLang="ja-JP" dirty="0"/>
              <a:t>4 </a:t>
            </a:r>
            <a:r>
              <a:rPr lang="ja-JP" altLang="en-US" dirty="0" err="1"/>
              <a:t>つの</a:t>
            </a:r>
            <a:r>
              <a:rPr lang="ja-JP" altLang="en-US" dirty="0"/>
              <a:t>タイプがあります</a:t>
            </a:r>
            <a:r>
              <a:rPr lang="ja-JP" altLang="en-US" dirty="0" smtClean="0"/>
              <a:t>。</a:t>
            </a:r>
            <a:endParaRPr lang="en-US" altLang="ja-JP" dirty="0" smtClean="0"/>
          </a:p>
          <a:p>
            <a:pPr lvl="1"/>
            <a:r>
              <a:rPr lang="ja-JP" altLang="en-US" dirty="0"/>
              <a:t>アクティビティ</a:t>
            </a:r>
          </a:p>
          <a:p>
            <a:pPr lvl="1"/>
            <a:r>
              <a:rPr lang="ja-JP" altLang="en-US" dirty="0"/>
              <a:t>サービス</a:t>
            </a:r>
          </a:p>
          <a:p>
            <a:pPr lvl="1"/>
            <a:r>
              <a:rPr lang="ja-JP" altLang="en-US" dirty="0"/>
              <a:t>ブロードキャスト レシーバ</a:t>
            </a:r>
          </a:p>
          <a:p>
            <a:pPr lvl="1"/>
            <a:r>
              <a:rPr lang="ja-JP" altLang="en-US" dirty="0"/>
              <a:t>コンテンツ プロバイダ</a:t>
            </a:r>
          </a:p>
          <a:p>
            <a:endParaRPr lang="ja-JP" altLang="en-US" dirty="0"/>
          </a:p>
          <a:p>
            <a:endParaRPr kumimoji="1" lang="ja-JP" altLang="en-US" dirty="0"/>
          </a:p>
        </p:txBody>
      </p:sp>
    </p:spTree>
    <p:extLst>
      <p:ext uri="{BB962C8B-B14F-4D97-AF65-F5344CB8AC3E}">
        <p14:creationId xmlns:p14="http://schemas.microsoft.com/office/powerpoint/2010/main" val="11645627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アクティビティとは</a:t>
            </a:r>
            <a:endParaRPr kumimoji="1" lang="ja-JP" altLang="en-US" dirty="0"/>
          </a:p>
        </p:txBody>
      </p:sp>
      <p:sp>
        <p:nvSpPr>
          <p:cNvPr id="3" name="コンテンツ プレースホルダー 2"/>
          <p:cNvSpPr>
            <a:spLocks noGrp="1"/>
          </p:cNvSpPr>
          <p:nvPr>
            <p:ph idx="1"/>
          </p:nvPr>
        </p:nvSpPr>
        <p:spPr/>
        <p:txBody>
          <a:bodyPr>
            <a:normAutofit fontScale="85000" lnSpcReduction="10000"/>
          </a:bodyPr>
          <a:lstStyle/>
          <a:p>
            <a:r>
              <a:rPr lang="ja-JP" altLang="en-US" dirty="0" smtClean="0"/>
              <a:t>モバイルアプリのエクスペリエンスはパソコンと異なり、ユーザーの操作が必ずしも同じ場所で開始されるとは限りません。ユーザーの操作が定められた状態で開始されることはほとんどありません。たとえば、ホーム画面からメールアプリを開くと、メールの一覧が表示されます。一方、ソーシャルメディア アプリを使用していて、そのアプリからメールアプリを起動した場合は、メールアプリのメール作成画面に直接移動できます。</a:t>
            </a:r>
          </a:p>
          <a:p>
            <a:endParaRPr lang="ja-JP" altLang="en-US" dirty="0" smtClean="0"/>
          </a:p>
          <a:p>
            <a:r>
              <a:rPr lang="en-US" altLang="ja-JP" dirty="0" smtClean="0"/>
              <a:t>Activity </a:t>
            </a:r>
            <a:r>
              <a:rPr lang="ja-JP" altLang="en-US" dirty="0" smtClean="0"/>
              <a:t>クラスは、このような枠組みを利用しやすいように設計されています。</a:t>
            </a:r>
            <a:r>
              <a:rPr lang="en-US" altLang="ja-JP" dirty="0" smtClean="0"/>
              <a:t>1 </a:t>
            </a:r>
            <a:r>
              <a:rPr lang="ja-JP" altLang="en-US" dirty="0" err="1" smtClean="0"/>
              <a:t>つの</a:t>
            </a:r>
            <a:r>
              <a:rPr lang="ja-JP" altLang="en-US" dirty="0" smtClean="0"/>
              <a:t>アプリが別のアプリを呼び出すとき、呼び出し元のアプリは、別のアプリ全体をひとまとめとして呼び出すのではなく、その中のアクティビティを呼び出します。そうすることで、アクティビティが、アプリがユーザーとやり取りする際のエントリ ポイントとして機能します。なお、アクティビティの実装は </a:t>
            </a:r>
            <a:r>
              <a:rPr lang="en-US" altLang="ja-JP" dirty="0" smtClean="0"/>
              <a:t>Activity </a:t>
            </a:r>
            <a:r>
              <a:rPr lang="ja-JP" altLang="en-US" dirty="0" smtClean="0"/>
              <a:t>クラスのサブクラスとして行います。</a:t>
            </a:r>
          </a:p>
          <a:p>
            <a:endParaRPr kumimoji="1" lang="ja-JP" altLang="en-US" dirty="0"/>
          </a:p>
        </p:txBody>
      </p:sp>
    </p:spTree>
    <p:extLst>
      <p:ext uri="{BB962C8B-B14F-4D97-AF65-F5344CB8AC3E}">
        <p14:creationId xmlns:p14="http://schemas.microsoft.com/office/powerpoint/2010/main" val="698225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2"/>
          <p:cNvSpPr txBox="1">
            <a:spLocks/>
          </p:cNvSpPr>
          <p:nvPr/>
        </p:nvSpPr>
        <p:spPr>
          <a:xfrm>
            <a:off x="838200" y="461176"/>
            <a:ext cx="10515600" cy="6025763"/>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アクティビティにより、アプリが </a:t>
            </a:r>
            <a:r>
              <a:rPr lang="en-US" altLang="ja-JP" dirty="0"/>
              <a:t>UI </a:t>
            </a:r>
            <a:r>
              <a:rPr lang="ja-JP" altLang="en-US" dirty="0" err="1"/>
              <a:t>を描</a:t>
            </a:r>
            <a:r>
              <a:rPr lang="ja-JP" altLang="en-US" dirty="0"/>
              <a:t>画するウィンドウが用意されます。通常、このウィンドウは画面全体に表示されますが、画面よりも小さく、他のウィンドウの上に重なることもあります。一般に、</a:t>
            </a:r>
            <a:r>
              <a:rPr lang="en-US" altLang="ja-JP" dirty="0"/>
              <a:t>1 </a:t>
            </a:r>
            <a:r>
              <a:rPr lang="ja-JP" altLang="en-US" dirty="0" err="1"/>
              <a:t>つの</a:t>
            </a:r>
            <a:r>
              <a:rPr lang="ja-JP" altLang="en-US" dirty="0"/>
              <a:t>アクティビティがアプリ内の </a:t>
            </a:r>
            <a:r>
              <a:rPr lang="en-US" altLang="ja-JP" dirty="0"/>
              <a:t>1 </a:t>
            </a:r>
            <a:r>
              <a:rPr lang="ja-JP" altLang="en-US" dirty="0" err="1"/>
              <a:t>つの</a:t>
            </a:r>
            <a:r>
              <a:rPr lang="ja-JP" altLang="en-US" dirty="0"/>
              <a:t>画面を実装します。たとえば、アプリのアクティビティの </a:t>
            </a:r>
            <a:r>
              <a:rPr lang="en-US" altLang="ja-JP" dirty="0"/>
              <a:t>1 </a:t>
            </a:r>
            <a:r>
              <a:rPr lang="ja-JP" altLang="en-US" dirty="0"/>
              <a:t>つが「設定」画面を実装し、他のアクティビティが「写真を選択」画面を実装します。</a:t>
            </a:r>
          </a:p>
          <a:p>
            <a:r>
              <a:rPr lang="ja-JP" altLang="en-US" dirty="0"/>
              <a:t>ほとんどのアプリには複数の画面があります。つまり、複数のアクティビティから構成されます。通常、アプリ内の </a:t>
            </a:r>
            <a:r>
              <a:rPr lang="en-US" altLang="ja-JP" dirty="0"/>
              <a:t>1 </a:t>
            </a:r>
            <a:r>
              <a:rPr lang="ja-JP" altLang="en-US" dirty="0" err="1"/>
              <a:t>つの</a:t>
            </a:r>
            <a:r>
              <a:rPr lang="ja-JP" altLang="en-US" dirty="0"/>
              <a:t>アクティビティがメイン アクティビティに指定されます。これは、ユーザーがアプリを起動したときに最初に表示される画面です。各アクティビティは、さまざまなアクションを実行するために別のアクティビティを開始できます。たとえば、シンプルなメールアプリのメイン アクティビティでは、受信トレイが表示されます。そして、メイン アクティビティから、メールの作成や個々のメール表示などのタスク用画面を表示するアクティビティが開始されます。</a:t>
            </a:r>
          </a:p>
        </p:txBody>
      </p:sp>
    </p:spTree>
    <p:extLst>
      <p:ext uri="{BB962C8B-B14F-4D97-AF65-F5344CB8AC3E}">
        <p14:creationId xmlns:p14="http://schemas.microsoft.com/office/powerpoint/2010/main" val="15798881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アクティビティのライフサイクル</a:t>
            </a:r>
            <a:endParaRPr kumimoji="1" lang="ja-JP" altLang="en-US" dirty="0"/>
          </a:p>
        </p:txBody>
      </p:sp>
      <p:pic>
        <p:nvPicPr>
          <p:cNvPr id="5" name="コンテンツ プレースホルダー 4"/>
          <p:cNvPicPr>
            <a:picLocks noGrp="1" noChangeAspect="1"/>
          </p:cNvPicPr>
          <p:nvPr>
            <p:ph idx="1"/>
          </p:nvPr>
        </p:nvPicPr>
        <p:blipFill>
          <a:blip r:embed="rId2"/>
          <a:stretch>
            <a:fillRect/>
          </a:stretch>
        </p:blipFill>
        <p:spPr>
          <a:xfrm>
            <a:off x="7744523" y="1219519"/>
            <a:ext cx="4189624" cy="5395290"/>
          </a:xfrm>
          <a:prstGeom prst="rect">
            <a:avLst/>
          </a:prstGeom>
        </p:spPr>
      </p:pic>
      <p:sp>
        <p:nvSpPr>
          <p:cNvPr id="6" name="コンテンツ プレースホルダー 2"/>
          <p:cNvSpPr txBox="1">
            <a:spLocks/>
          </p:cNvSpPr>
          <p:nvPr/>
        </p:nvSpPr>
        <p:spPr>
          <a:xfrm>
            <a:off x="590146" y="1588851"/>
            <a:ext cx="7154378" cy="48980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smtClean="0"/>
              <a:t>アクティビティの状態</a:t>
            </a:r>
            <a:endParaRPr lang="en-US" altLang="ja-JP" dirty="0" smtClean="0"/>
          </a:p>
          <a:p>
            <a:pPr lvl="1"/>
            <a:r>
              <a:rPr lang="ja-JP" altLang="en-US" dirty="0" smtClean="0"/>
              <a:t>作成中</a:t>
            </a:r>
            <a:r>
              <a:rPr lang="en-US" altLang="ja-JP" dirty="0" smtClean="0"/>
              <a:t/>
            </a:r>
            <a:br>
              <a:rPr lang="en-US" altLang="ja-JP" dirty="0" smtClean="0"/>
            </a:br>
            <a:r>
              <a:rPr lang="en-US" altLang="ja-JP" dirty="0" smtClean="0"/>
              <a:t>VM</a:t>
            </a:r>
            <a:r>
              <a:rPr lang="ja-JP" altLang="en-US" dirty="0" smtClean="0"/>
              <a:t>起動、アクティビティ初期化、画面作成</a:t>
            </a:r>
            <a:endParaRPr lang="en-US" altLang="ja-JP" dirty="0" smtClean="0"/>
          </a:p>
          <a:p>
            <a:pPr lvl="1"/>
            <a:r>
              <a:rPr lang="ja-JP" altLang="en-US" dirty="0" smtClean="0"/>
              <a:t>動作中</a:t>
            </a:r>
            <a:r>
              <a:rPr lang="en-US" altLang="ja-JP" dirty="0" smtClean="0"/>
              <a:t/>
            </a:r>
            <a:br>
              <a:rPr lang="en-US" altLang="ja-JP" dirty="0" smtClean="0"/>
            </a:br>
            <a:r>
              <a:rPr lang="ja-JP" altLang="en-US" dirty="0" smtClean="0"/>
              <a:t>画面表示、入力受付可能</a:t>
            </a:r>
            <a:endParaRPr lang="en-US" altLang="ja-JP" dirty="0" smtClean="0"/>
          </a:p>
          <a:p>
            <a:pPr lvl="1"/>
            <a:r>
              <a:rPr lang="ja-JP" altLang="en-US" dirty="0" smtClean="0"/>
              <a:t>停止中</a:t>
            </a:r>
            <a:r>
              <a:rPr lang="en-US" altLang="ja-JP" dirty="0" smtClean="0"/>
              <a:t/>
            </a:r>
            <a:br>
              <a:rPr lang="en-US" altLang="ja-JP" dirty="0" smtClean="0"/>
            </a:br>
            <a:r>
              <a:rPr lang="ja-JP" altLang="en-US" dirty="0"/>
              <a:t>画面</a:t>
            </a:r>
            <a:r>
              <a:rPr lang="ja-JP" altLang="en-US" dirty="0" smtClean="0"/>
              <a:t>非表示、入力受付不可</a:t>
            </a:r>
            <a:endParaRPr lang="en-US" altLang="ja-JP" dirty="0" smtClean="0"/>
          </a:p>
          <a:p>
            <a:pPr lvl="1"/>
            <a:r>
              <a:rPr lang="ja-JP" altLang="en-US" dirty="0" smtClean="0"/>
              <a:t>再開中</a:t>
            </a:r>
            <a:r>
              <a:rPr lang="en-US" altLang="ja-JP" dirty="0" smtClean="0"/>
              <a:t/>
            </a:r>
            <a:br>
              <a:rPr lang="en-US" altLang="ja-JP" dirty="0" smtClean="0"/>
            </a:br>
            <a:r>
              <a:rPr lang="ja-JP" altLang="en-US" dirty="0" smtClean="0"/>
              <a:t>画面作成</a:t>
            </a:r>
            <a:endParaRPr lang="en-US" altLang="ja-JP" dirty="0" smtClean="0"/>
          </a:p>
          <a:p>
            <a:pPr lvl="1"/>
            <a:r>
              <a:rPr lang="ja-JP" altLang="en-US" dirty="0" smtClean="0"/>
              <a:t>終了中</a:t>
            </a:r>
            <a:r>
              <a:rPr lang="en-US" altLang="ja-JP" dirty="0" smtClean="0"/>
              <a:t/>
            </a:r>
            <a:br>
              <a:rPr lang="en-US" altLang="ja-JP" dirty="0" smtClean="0"/>
            </a:br>
            <a:r>
              <a:rPr lang="en-US" altLang="ja-JP" dirty="0" smtClean="0"/>
              <a:t>VM</a:t>
            </a:r>
            <a:r>
              <a:rPr lang="ja-JP" altLang="en-US" dirty="0" smtClean="0"/>
              <a:t>破棄、アクティビティ終了</a:t>
            </a:r>
            <a:endParaRPr lang="ja-JP" altLang="en-US" dirty="0"/>
          </a:p>
        </p:txBody>
      </p:sp>
      <p:sp>
        <p:nvSpPr>
          <p:cNvPr id="4" name="角丸四角形 3"/>
          <p:cNvSpPr/>
          <p:nvPr/>
        </p:nvSpPr>
        <p:spPr>
          <a:xfrm>
            <a:off x="9150485" y="1606858"/>
            <a:ext cx="1335932" cy="128599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p:cNvSpPr txBox="1"/>
          <p:nvPr/>
        </p:nvSpPr>
        <p:spPr>
          <a:xfrm>
            <a:off x="10404121" y="1516645"/>
            <a:ext cx="877163" cy="369332"/>
          </a:xfrm>
          <a:prstGeom prst="rect">
            <a:avLst/>
          </a:prstGeom>
          <a:noFill/>
        </p:spPr>
        <p:txBody>
          <a:bodyPr wrap="none" rtlCol="0">
            <a:spAutoFit/>
          </a:bodyPr>
          <a:lstStyle/>
          <a:p>
            <a:r>
              <a:rPr kumimoji="1" lang="ja-JP" altLang="en-US" dirty="0" smtClean="0"/>
              <a:t>作成中</a:t>
            </a:r>
            <a:endParaRPr kumimoji="1" lang="ja-JP" altLang="en-US" dirty="0"/>
          </a:p>
        </p:txBody>
      </p:sp>
      <p:sp>
        <p:nvSpPr>
          <p:cNvPr id="8" name="角丸四角形 7"/>
          <p:cNvSpPr/>
          <p:nvPr/>
        </p:nvSpPr>
        <p:spPr>
          <a:xfrm>
            <a:off x="9150485" y="2993161"/>
            <a:ext cx="1335932" cy="113136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p:cNvSpPr txBox="1"/>
          <p:nvPr/>
        </p:nvSpPr>
        <p:spPr>
          <a:xfrm>
            <a:off x="10356945" y="3062800"/>
            <a:ext cx="877163" cy="369332"/>
          </a:xfrm>
          <a:prstGeom prst="rect">
            <a:avLst/>
          </a:prstGeom>
          <a:noFill/>
        </p:spPr>
        <p:txBody>
          <a:bodyPr wrap="none" rtlCol="0">
            <a:spAutoFit/>
          </a:bodyPr>
          <a:lstStyle/>
          <a:p>
            <a:r>
              <a:rPr kumimoji="1" lang="ja-JP" altLang="en-US" dirty="0" smtClean="0"/>
              <a:t>動作中</a:t>
            </a:r>
            <a:endParaRPr kumimoji="1" lang="ja-JP" altLang="en-US" dirty="0"/>
          </a:p>
        </p:txBody>
      </p:sp>
      <p:sp>
        <p:nvSpPr>
          <p:cNvPr id="12" name="角丸四角形 11"/>
          <p:cNvSpPr/>
          <p:nvPr/>
        </p:nvSpPr>
        <p:spPr>
          <a:xfrm>
            <a:off x="9139690" y="4166317"/>
            <a:ext cx="1335932" cy="1371964"/>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p:cNvSpPr txBox="1"/>
          <p:nvPr/>
        </p:nvSpPr>
        <p:spPr>
          <a:xfrm>
            <a:off x="10404123" y="4358230"/>
            <a:ext cx="877163" cy="369332"/>
          </a:xfrm>
          <a:prstGeom prst="rect">
            <a:avLst/>
          </a:prstGeom>
          <a:noFill/>
        </p:spPr>
        <p:txBody>
          <a:bodyPr wrap="none" rtlCol="0">
            <a:spAutoFit/>
          </a:bodyPr>
          <a:lstStyle/>
          <a:p>
            <a:r>
              <a:rPr kumimoji="1" lang="ja-JP" altLang="en-US" dirty="0" smtClean="0"/>
              <a:t>停止中</a:t>
            </a:r>
            <a:endParaRPr kumimoji="1" lang="ja-JP" altLang="en-US" dirty="0"/>
          </a:p>
        </p:txBody>
      </p:sp>
      <p:sp>
        <p:nvSpPr>
          <p:cNvPr id="16" name="角丸四角形 15"/>
          <p:cNvSpPr/>
          <p:nvPr/>
        </p:nvSpPr>
        <p:spPr>
          <a:xfrm>
            <a:off x="9139690" y="5651407"/>
            <a:ext cx="1335932" cy="1063714"/>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p:cNvSpPr txBox="1"/>
          <p:nvPr/>
        </p:nvSpPr>
        <p:spPr>
          <a:xfrm>
            <a:off x="10475622" y="5630871"/>
            <a:ext cx="877163" cy="369332"/>
          </a:xfrm>
          <a:prstGeom prst="rect">
            <a:avLst/>
          </a:prstGeom>
          <a:noFill/>
        </p:spPr>
        <p:txBody>
          <a:bodyPr wrap="none" rtlCol="0">
            <a:spAutoFit/>
          </a:bodyPr>
          <a:lstStyle/>
          <a:p>
            <a:r>
              <a:rPr kumimoji="1" lang="ja-JP" altLang="en-US" dirty="0" smtClean="0"/>
              <a:t>終了中</a:t>
            </a:r>
            <a:endParaRPr kumimoji="1" lang="ja-JP" altLang="en-US" dirty="0"/>
          </a:p>
        </p:txBody>
      </p:sp>
      <p:sp>
        <p:nvSpPr>
          <p:cNvPr id="20" name="角丸四角形 19"/>
          <p:cNvSpPr/>
          <p:nvPr/>
        </p:nvSpPr>
        <p:spPr>
          <a:xfrm>
            <a:off x="10784732" y="2535149"/>
            <a:ext cx="1149415" cy="300313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p:cNvSpPr txBox="1"/>
          <p:nvPr/>
        </p:nvSpPr>
        <p:spPr>
          <a:xfrm>
            <a:off x="11206141" y="1969598"/>
            <a:ext cx="877163" cy="369332"/>
          </a:xfrm>
          <a:prstGeom prst="rect">
            <a:avLst/>
          </a:prstGeom>
          <a:noFill/>
        </p:spPr>
        <p:txBody>
          <a:bodyPr wrap="none" rtlCol="0">
            <a:spAutoFit/>
          </a:bodyPr>
          <a:lstStyle/>
          <a:p>
            <a:r>
              <a:rPr kumimoji="1" lang="ja-JP" altLang="en-US" dirty="0" smtClean="0"/>
              <a:t>再開中</a:t>
            </a:r>
            <a:endParaRPr kumimoji="1" lang="ja-JP" altLang="en-US" dirty="0"/>
          </a:p>
        </p:txBody>
      </p:sp>
      <p:sp>
        <p:nvSpPr>
          <p:cNvPr id="22" name="角丸四角形 21"/>
          <p:cNvSpPr/>
          <p:nvPr/>
        </p:nvSpPr>
        <p:spPr>
          <a:xfrm>
            <a:off x="7893681" y="2154264"/>
            <a:ext cx="1149415" cy="3206974"/>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p:cNvSpPr txBox="1"/>
          <p:nvPr/>
        </p:nvSpPr>
        <p:spPr>
          <a:xfrm>
            <a:off x="7948883" y="1780901"/>
            <a:ext cx="877163" cy="369332"/>
          </a:xfrm>
          <a:prstGeom prst="rect">
            <a:avLst/>
          </a:prstGeom>
          <a:noFill/>
        </p:spPr>
        <p:txBody>
          <a:bodyPr wrap="none" rtlCol="0">
            <a:spAutoFit/>
          </a:bodyPr>
          <a:lstStyle/>
          <a:p>
            <a:r>
              <a:rPr kumimoji="1" lang="ja-JP" altLang="en-US" dirty="0" smtClean="0"/>
              <a:t>再開中</a:t>
            </a:r>
            <a:endParaRPr kumimoji="1" lang="ja-JP" altLang="en-US" dirty="0"/>
          </a:p>
        </p:txBody>
      </p:sp>
      <p:sp>
        <p:nvSpPr>
          <p:cNvPr id="24" name="角丸四角形 23"/>
          <p:cNvSpPr/>
          <p:nvPr/>
        </p:nvSpPr>
        <p:spPr>
          <a:xfrm>
            <a:off x="9254706" y="2535149"/>
            <a:ext cx="2679441" cy="42733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角丸四角形 24"/>
          <p:cNvSpPr/>
          <p:nvPr/>
        </p:nvSpPr>
        <p:spPr>
          <a:xfrm>
            <a:off x="7893680" y="2142230"/>
            <a:ext cx="2592738" cy="75061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637236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2"/>
          <p:cNvSpPr txBox="1">
            <a:spLocks/>
          </p:cNvSpPr>
          <p:nvPr/>
        </p:nvSpPr>
        <p:spPr>
          <a:xfrm>
            <a:off x="838200" y="461176"/>
            <a:ext cx="10515600" cy="6025763"/>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smtClean="0"/>
              <a:t>ライフサイクル コールバック</a:t>
            </a:r>
            <a:endParaRPr lang="en-US" altLang="ja-JP" dirty="0" smtClean="0"/>
          </a:p>
          <a:p>
            <a:pPr lvl="1"/>
            <a:r>
              <a:rPr lang="ja-JP" altLang="en-US" dirty="0" smtClean="0"/>
              <a:t>作成中のコールバック</a:t>
            </a:r>
            <a:endParaRPr lang="en-US" altLang="ja-JP" dirty="0" smtClean="0"/>
          </a:p>
          <a:p>
            <a:pPr lvl="2"/>
            <a:r>
              <a:rPr lang="en-US" altLang="ja-JP" dirty="0" err="1" smtClean="0"/>
              <a:t>onCreate</a:t>
            </a:r>
            <a:r>
              <a:rPr lang="en-US" altLang="ja-JP" dirty="0" smtClean="0"/>
              <a:t>()</a:t>
            </a:r>
          </a:p>
          <a:p>
            <a:pPr lvl="2"/>
            <a:r>
              <a:rPr lang="en-US" altLang="ja-JP" dirty="0" err="1" smtClean="0"/>
              <a:t>onStart</a:t>
            </a:r>
            <a:r>
              <a:rPr lang="en-US" altLang="ja-JP" dirty="0" smtClean="0"/>
              <a:t>()</a:t>
            </a:r>
          </a:p>
          <a:p>
            <a:pPr lvl="1"/>
            <a:r>
              <a:rPr lang="ja-JP" altLang="en-US" dirty="0" smtClean="0"/>
              <a:t>動作中のコールバック</a:t>
            </a:r>
            <a:endParaRPr lang="en-US" altLang="ja-JP" dirty="0" smtClean="0"/>
          </a:p>
          <a:p>
            <a:pPr lvl="2"/>
            <a:r>
              <a:rPr lang="en-US" altLang="ja-JP" dirty="0" err="1" smtClean="0"/>
              <a:t>onResume</a:t>
            </a:r>
            <a:r>
              <a:rPr lang="en-US" altLang="ja-JP" dirty="0" smtClean="0"/>
              <a:t>()</a:t>
            </a:r>
          </a:p>
          <a:p>
            <a:pPr lvl="1"/>
            <a:r>
              <a:rPr lang="ja-JP" altLang="en-US" dirty="0" smtClean="0"/>
              <a:t>停止中のコールバック</a:t>
            </a:r>
            <a:endParaRPr lang="en-US" altLang="ja-JP" dirty="0" smtClean="0"/>
          </a:p>
          <a:p>
            <a:pPr lvl="2"/>
            <a:r>
              <a:rPr lang="en-US" altLang="ja-JP" dirty="0" err="1" smtClean="0"/>
              <a:t>onPause</a:t>
            </a:r>
            <a:r>
              <a:rPr lang="en-US" altLang="ja-JP" dirty="0" smtClean="0"/>
              <a:t>()</a:t>
            </a:r>
          </a:p>
          <a:p>
            <a:pPr lvl="2"/>
            <a:r>
              <a:rPr lang="en-US" altLang="ja-JP" dirty="0" err="1" smtClean="0"/>
              <a:t>onStop</a:t>
            </a:r>
            <a:r>
              <a:rPr lang="en-US" altLang="ja-JP" dirty="0" smtClean="0"/>
              <a:t>()</a:t>
            </a:r>
          </a:p>
          <a:p>
            <a:pPr lvl="1"/>
            <a:r>
              <a:rPr lang="ja-JP" altLang="en-US" dirty="0" smtClean="0"/>
              <a:t>再開中のコールバック</a:t>
            </a:r>
            <a:endParaRPr lang="en-US" altLang="ja-JP" dirty="0" smtClean="0"/>
          </a:p>
          <a:p>
            <a:pPr lvl="2"/>
            <a:r>
              <a:rPr lang="ja-JP" altLang="en-US" dirty="0" smtClean="0"/>
              <a:t>プロセス</a:t>
            </a:r>
            <a:r>
              <a:rPr lang="en-US" altLang="ja-JP" dirty="0" smtClean="0"/>
              <a:t>kill</a:t>
            </a:r>
            <a:r>
              <a:rPr lang="ja-JP" altLang="en-US" dirty="0" smtClean="0"/>
              <a:t>が未発生</a:t>
            </a:r>
            <a:endParaRPr lang="en-US" altLang="ja-JP" dirty="0" smtClean="0"/>
          </a:p>
          <a:p>
            <a:pPr lvl="3"/>
            <a:r>
              <a:rPr lang="en-US" altLang="ja-JP" dirty="0" err="1" smtClean="0"/>
              <a:t>onRestart</a:t>
            </a:r>
            <a:r>
              <a:rPr lang="en-US" altLang="ja-JP" dirty="0" smtClean="0"/>
              <a:t>()</a:t>
            </a:r>
          </a:p>
          <a:p>
            <a:pPr lvl="3"/>
            <a:r>
              <a:rPr lang="en-US" altLang="ja-JP" dirty="0" err="1" smtClean="0"/>
              <a:t>onStart</a:t>
            </a:r>
            <a:r>
              <a:rPr lang="en-US" altLang="ja-JP" dirty="0" smtClean="0"/>
              <a:t>()</a:t>
            </a:r>
          </a:p>
          <a:p>
            <a:pPr lvl="2"/>
            <a:r>
              <a:rPr lang="ja-JP" altLang="en-US" dirty="0" smtClean="0"/>
              <a:t>プロセス</a:t>
            </a:r>
            <a:r>
              <a:rPr lang="en-US" altLang="ja-JP" dirty="0" smtClean="0"/>
              <a:t>kill</a:t>
            </a:r>
            <a:r>
              <a:rPr lang="ja-JP" altLang="en-US" dirty="0" smtClean="0"/>
              <a:t>が発生</a:t>
            </a:r>
            <a:endParaRPr lang="en-US" altLang="ja-JP" dirty="0"/>
          </a:p>
          <a:p>
            <a:pPr lvl="3"/>
            <a:r>
              <a:rPr lang="en-US" altLang="ja-JP" dirty="0" err="1" smtClean="0"/>
              <a:t>onCreate</a:t>
            </a:r>
            <a:r>
              <a:rPr lang="en-US" altLang="ja-JP" dirty="0" smtClean="0"/>
              <a:t>()</a:t>
            </a:r>
          </a:p>
          <a:p>
            <a:pPr lvl="3"/>
            <a:r>
              <a:rPr lang="en-US" altLang="ja-JP" dirty="0" err="1" smtClean="0"/>
              <a:t>onStart</a:t>
            </a:r>
            <a:r>
              <a:rPr lang="en-US" altLang="ja-JP" dirty="0" smtClean="0"/>
              <a:t>()</a:t>
            </a:r>
          </a:p>
          <a:p>
            <a:pPr lvl="1"/>
            <a:r>
              <a:rPr lang="ja-JP" altLang="en-US" dirty="0" smtClean="0"/>
              <a:t>終了中のコールバック</a:t>
            </a:r>
            <a:endParaRPr lang="en-US" altLang="ja-JP" dirty="0" smtClean="0"/>
          </a:p>
          <a:p>
            <a:pPr lvl="2"/>
            <a:r>
              <a:rPr lang="en-US" altLang="ja-JP" dirty="0" err="1" smtClean="0"/>
              <a:t>onDestroy</a:t>
            </a:r>
            <a:r>
              <a:rPr lang="en-US" altLang="ja-JP" dirty="0" smtClean="0"/>
              <a:t>()</a:t>
            </a:r>
            <a:endParaRPr lang="ja-JP" altLang="en-US" dirty="0"/>
          </a:p>
        </p:txBody>
      </p:sp>
    </p:spTree>
    <p:extLst>
      <p:ext uri="{BB962C8B-B14F-4D97-AF65-F5344CB8AC3E}">
        <p14:creationId xmlns:p14="http://schemas.microsoft.com/office/powerpoint/2010/main" val="40010738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2"/>
          <p:cNvSpPr txBox="1">
            <a:spLocks/>
          </p:cNvSpPr>
          <p:nvPr/>
        </p:nvSpPr>
        <p:spPr>
          <a:xfrm>
            <a:off x="838200" y="461176"/>
            <a:ext cx="10515600" cy="602576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err="1" smtClean="0"/>
              <a:t>onCreate</a:t>
            </a:r>
            <a:r>
              <a:rPr lang="en-US" altLang="ja-JP" dirty="0" smtClean="0"/>
              <a:t>()</a:t>
            </a:r>
          </a:p>
          <a:p>
            <a:pPr lvl="1"/>
            <a:endParaRPr lang="ja-JP" altLang="en-US" dirty="0"/>
          </a:p>
        </p:txBody>
      </p:sp>
    </p:spTree>
    <p:extLst>
      <p:ext uri="{BB962C8B-B14F-4D97-AF65-F5344CB8AC3E}">
        <p14:creationId xmlns:p14="http://schemas.microsoft.com/office/powerpoint/2010/main" val="37349212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p:txBody>
          <a:bodyPr/>
          <a:lstStyle/>
          <a:p>
            <a:endParaRPr kumimoji="1" lang="ja-JP" altLang="en-US"/>
          </a:p>
        </p:txBody>
      </p:sp>
      <p:sp>
        <p:nvSpPr>
          <p:cNvPr id="4" name="タイトル 3"/>
          <p:cNvSpPr>
            <a:spLocks noGrp="1"/>
          </p:cNvSpPr>
          <p:nvPr>
            <p:ph type="title"/>
          </p:nvPr>
        </p:nvSpPr>
        <p:spPr/>
        <p:txBody>
          <a:bodyPr/>
          <a:lstStyle/>
          <a:p>
            <a:endParaRPr kumimoji="1" lang="ja-JP" altLang="en-US"/>
          </a:p>
        </p:txBody>
      </p:sp>
    </p:spTree>
    <p:extLst>
      <p:ext uri="{BB962C8B-B14F-4D97-AF65-F5344CB8AC3E}">
        <p14:creationId xmlns:p14="http://schemas.microsoft.com/office/powerpoint/2010/main" val="334556485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1451</TotalTime>
  <Words>1640</Words>
  <Application>Microsoft Office PowerPoint</Application>
  <PresentationFormat>ワイド画面</PresentationFormat>
  <Paragraphs>97</Paragraphs>
  <Slides>21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21</vt:i4>
      </vt:variant>
    </vt:vector>
  </HeadingPairs>
  <TitlesOfParts>
    <vt:vector size="25" baseType="lpstr">
      <vt:lpstr>游ゴシック</vt:lpstr>
      <vt:lpstr>游ゴシック Light</vt:lpstr>
      <vt:lpstr>Arial</vt:lpstr>
      <vt:lpstr>Office テーマ</vt:lpstr>
      <vt:lpstr>Android 勉強会</vt:lpstr>
      <vt:lpstr>Androidのバージョン</vt:lpstr>
      <vt:lpstr>PowerPoint プレゼンテーション</vt:lpstr>
      <vt:lpstr>PowerPoint プレゼンテーション</vt:lpstr>
      <vt:lpstr>Android アーキテクチャ</vt:lpstr>
      <vt:lpstr>Linux カーネル</vt:lpstr>
      <vt:lpstr>PowerPoint プレゼンテーション</vt:lpstr>
      <vt:lpstr>PowerPoint プレゼンテーション</vt:lpstr>
      <vt:lpstr>仮想マシン</vt:lpstr>
      <vt:lpstr>ネイティブ C/C++ 言語 ライブラリ</vt:lpstr>
      <vt:lpstr>Java API</vt:lpstr>
      <vt:lpstr>Androidアプリの基礎</vt:lpstr>
      <vt:lpstr>PowerPoint プレゼンテーション</vt:lpstr>
      <vt:lpstr>PowerPoint プレゼンテーション</vt:lpstr>
      <vt:lpstr>Androidアプリのコンポーネント</vt:lpstr>
      <vt:lpstr>アクティビティとは</vt:lpstr>
      <vt:lpstr>PowerPoint プレゼンテーション</vt:lpstr>
      <vt:lpstr>アクティビティのライフサイクル</vt:lpstr>
      <vt:lpstr>PowerPoint プレゼンテーション</vt:lpstr>
      <vt:lpstr>PowerPoint プレゼンテーション</vt:lpstr>
      <vt:lpstr>PowerPoint プレゼンテーション</vt:lpstr>
    </vt:vector>
  </TitlesOfParts>
  <Company>NEC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Android 勉強会</dc:title>
  <dc:creator>1134140318598</dc:creator>
  <cp:lastModifiedBy>1134140318598</cp:lastModifiedBy>
  <cp:revision>33</cp:revision>
  <dcterms:created xsi:type="dcterms:W3CDTF">2020-06-24T10:07:33Z</dcterms:created>
  <dcterms:modified xsi:type="dcterms:W3CDTF">2020-07-03T02:37:49Z</dcterms:modified>
</cp:coreProperties>
</file>